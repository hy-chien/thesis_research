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762326"/>
                </a:solidFill>
                <a:latin typeface="Times New Roman"/>
              </a:rPr>
              <a:t>Lower α Reveals an Error Signal in the 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78992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1">
                <a:solidFill>
                  <a:srgbClr val="626B70"/>
                </a:solidFill>
                <a:latin typeface="Times New Roman"/>
              </a:rPr>
              <a:t>The same token distribution is viewed with different emphasis; tail emphasis gives better error detection.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417320"/>
            <a:ext cx="4133087" cy="4425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6112" y="1664208"/>
            <a:ext cx="3657600" cy="283464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1645920"/>
            <a:ext cx="358444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626B70"/>
                </a:solidFill>
                <a:latin typeface="Arial"/>
              </a:rPr>
              <a:t>2Wiki error-detection AUROC 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4736592"/>
            <a:ext cx="4517136" cy="12801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507992"/>
            <a:ext cx="6766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26B70"/>
                </a:solidFill>
                <a:latin typeface="Arial"/>
              </a:rPr>
              <a:t>chance = .50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3245388"/>
            <a:ext cx="694944" cy="1491203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2879628"/>
            <a:ext cx="9144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846320"/>
            <a:ext cx="1060704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5202936"/>
            <a:ext cx="1243584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26B70"/>
                </a:solidFill>
                <a:latin typeface="Arial"/>
              </a:rPr>
              <a:t>head emphasis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395728" y="3047878"/>
            <a:ext cx="694944" cy="1688713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0" y="2682118"/>
            <a:ext cx="9144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12848" y="4846320"/>
            <a:ext cx="1060704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Arial"/>
              </a:rPr>
              <a:t>α =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21408" y="5202936"/>
            <a:ext cx="1243584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626B70"/>
                </a:solidFill>
                <a:latin typeface="Arial"/>
              </a:rPr>
              <a:t>original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603479"/>
            <a:ext cx="694944" cy="2133112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47872" y="2237719"/>
            <a:ext cx="9144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46320"/>
            <a:ext cx="1060704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202936"/>
            <a:ext cx="1243584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137455"/>
                </a:solidFill>
                <a:latin typeface="Arial"/>
              </a:rPr>
              <a:t>tail emphasis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1417320"/>
            <a:ext cx="6556248" cy="44256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1627632"/>
            <a:ext cx="59436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8191A"/>
                </a:solidFill>
                <a:latin typeface="Arial"/>
              </a:rPr>
              <a:t>Same probabilities, different emphasis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938528"/>
            <a:ext cx="594360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26B70"/>
                </a:solidFill>
                <a:latin typeface="Cambria Math"/>
              </a:rPr>
              <a:t>Displayed weight:  w_α(v) = p(v)^α / Σ_u p(u)^α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230368" y="2350008"/>
            <a:ext cx="1700784" cy="3044952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0" y="2468880"/>
            <a:ext cx="1554480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85231" y="2734056"/>
            <a:ext cx="1591056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26B70"/>
                </a:solidFill>
                <a:latin typeface="Arial"/>
              </a:rPr>
              <a:t>head dominates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358383" y="4782312"/>
            <a:ext cx="6803136" cy="8229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76672" y="3158227"/>
            <a:ext cx="84124" cy="162408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92800" y="4082877"/>
            <a:ext cx="84124" cy="69943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08929" y="4471452"/>
            <a:ext cx="84124" cy="310859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25058" y="4653844"/>
            <a:ext cx="84124" cy="128467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41187" y="4704597"/>
            <a:ext cx="84124" cy="7771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021323" y="4742661"/>
            <a:ext cx="84124" cy="39650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37452" y="4762883"/>
            <a:ext cx="84124" cy="1942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3581" y="4770749"/>
            <a:ext cx="84124" cy="1156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69710" y="4775317"/>
            <a:ext cx="84124" cy="6994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85839" y="4777728"/>
            <a:ext cx="84124" cy="458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601967" y="4780028"/>
            <a:ext cx="84124" cy="228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718096" y="4781296"/>
            <a:ext cx="84124" cy="1015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40096" y="4910328"/>
            <a:ext cx="6400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C97812"/>
                </a:solidFill>
                <a:latin typeface="Arial"/>
              </a:rPr>
              <a:t>top-5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6" y="4910328"/>
            <a:ext cx="5669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232904" y="2350008"/>
            <a:ext cx="1700784" cy="3044952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06056" y="2468880"/>
            <a:ext cx="1554480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191A"/>
                </a:solidFill>
                <a:latin typeface="Arial"/>
              </a:rPr>
              <a:t>α = 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87768" y="2734056"/>
            <a:ext cx="1591056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626B70"/>
                </a:solidFill>
                <a:latin typeface="Arial"/>
              </a:rPr>
              <a:t>original distribution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60920" y="4782312"/>
            <a:ext cx="8805672" cy="8229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79208" y="3845966"/>
            <a:ext cx="84124" cy="936345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495336" y="4167835"/>
            <a:ext cx="84124" cy="614476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11465" y="4372660"/>
            <a:ext cx="84124" cy="409651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727594" y="4518964"/>
            <a:ext cx="84124" cy="263347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843723" y="4577486"/>
            <a:ext cx="84124" cy="204825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023860" y="4636008"/>
            <a:ext cx="84124" cy="146304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8139988" y="4679899"/>
            <a:ext cx="84124" cy="10241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56117" y="4703307"/>
            <a:ext cx="84124" cy="79004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372246" y="4720864"/>
            <a:ext cx="84124" cy="61447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88375" y="4732568"/>
            <a:ext cx="84124" cy="49743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604504" y="4747199"/>
            <a:ext cx="84124" cy="35112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720632" y="4758903"/>
            <a:ext cx="84124" cy="23408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342631" y="4910328"/>
            <a:ext cx="6400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C97812"/>
                </a:solidFill>
                <a:latin typeface="Arial"/>
              </a:rPr>
              <a:t>top-5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65592" y="4910328"/>
            <a:ext cx="5669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9235440" y="2350008"/>
            <a:ext cx="1700784" cy="3044952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308592" y="2468880"/>
            <a:ext cx="1554480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290304" y="2734056"/>
            <a:ext cx="1591056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1" i="0">
                <a:solidFill>
                  <a:srgbClr val="137455"/>
                </a:solidFill>
                <a:latin typeface="Arial"/>
              </a:rPr>
              <a:t>tail becomes visible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363456" y="4782312"/>
            <a:ext cx="10808207" cy="8229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381744" y="4232758"/>
            <a:ext cx="84124" cy="549553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497872" y="4337122"/>
            <a:ext cx="84124" cy="445189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614001" y="4418816"/>
            <a:ext cx="84124" cy="363495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9730130" y="4490867"/>
            <a:ext cx="84124" cy="291444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9846259" y="4525282"/>
            <a:ext cx="84124" cy="257029"/>
          </a:xfrm>
          <a:prstGeom prst="rect">
            <a:avLst/>
          </a:prstGeom>
          <a:solidFill>
            <a:srgbClr val="E493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026396" y="4565082"/>
            <a:ext cx="84124" cy="217229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142524" y="4600564"/>
            <a:ext cx="84124" cy="181747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258653" y="4622681"/>
            <a:ext cx="84124" cy="159630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0374782" y="4641530"/>
            <a:ext cx="84124" cy="140781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0490911" y="4655646"/>
            <a:ext cx="84124" cy="126665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607040" y="4675891"/>
            <a:ext cx="84124" cy="106420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723168" y="4695420"/>
            <a:ext cx="84124" cy="86891"/>
          </a:xfrm>
          <a:prstGeom prst="rect">
            <a:avLst/>
          </a:prstGeom>
          <a:solidFill>
            <a:srgbClr val="4C86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345167" y="4910328"/>
            <a:ext cx="6400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C97812"/>
                </a:solidFill>
                <a:latin typeface="Arial"/>
              </a:rPr>
              <a:t>top-5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168128" y="4910328"/>
            <a:ext cx="56692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69" b="1" i="0">
                <a:solidFill>
                  <a:srgbClr val="3D75B3"/>
                </a:solidFill>
                <a:latin typeface="Arial"/>
              </a:rPr>
              <a:t>tail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71616" y="5230368"/>
            <a:ext cx="4389120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Tokens ranked by original probability  →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" y="5989320"/>
            <a:ext cx="10515600" cy="384048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87552" y="5980176"/>
            <a:ext cx="10222992" cy="4023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0" b="1" i="0">
                <a:solidFill>
                  <a:srgbClr val="137455"/>
                </a:solidFill>
                <a:latin typeface="Times New Roman"/>
              </a:rPr>
              <a:t>α &lt; 1 makes low-probability tokens matter more; its higher AUROC points us toward the tail.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