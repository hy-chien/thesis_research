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762326"/>
                </a:solidFill>
                <a:latin typeface="Times New Roman"/>
              </a:rPr>
              <a:t>Discovering the Signal: It Lives in the 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42-signal survey  →  entropy decomposition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583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53328" y="1417320"/>
            <a:ext cx="563270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586484"/>
            <a:ext cx="40873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Broad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29968"/>
            <a:ext cx="4754880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26B70"/>
                </a:solidFill>
                <a:latin typeface="Arial"/>
              </a:rPr>
              <a:t>42 confidence signals  ·  4 datasets × 1,000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2350008"/>
            <a:ext cx="4736592" cy="61264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368296"/>
            <a:ext cx="4517136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Cambria Math"/>
              </a:rPr>
              <a:t>H_α(p) = 1/(1−α) · log ∑ᵥ p(v)ᵅ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660904"/>
            <a:ext cx="4535424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α &gt; 1: head-heavy   ·   α → 1: Shannon   ·   α &lt; 1: tail-sensitive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017520"/>
            <a:ext cx="1353312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26B70"/>
                </a:solidFill>
                <a:latin typeface="Arial"/>
              </a:rPr>
              <a:t>2Wiki AUROC 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4818888"/>
            <a:ext cx="4535424" cy="10972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5568" y="4160520"/>
            <a:ext cx="658368" cy="658368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496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p² →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4912" y="3794759"/>
            <a:ext cx="658368" cy="1024128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3483863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Shannon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3246120"/>
            <a:ext cx="658368" cy="1572768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29352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√p → 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" y="5422392"/>
            <a:ext cx="4462272" cy="21945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404104"/>
            <a:ext cx="444398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Lower α gives rare tokens more influence  →  better separation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318504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7416" y="1586484"/>
            <a:ext cx="43159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Decompose entropy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1993392"/>
            <a:ext cx="5029200" cy="1225296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048256"/>
            <a:ext cx="47548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Cambria Math"/>
              </a:rPr>
              <a:t>Split: A = top-5,  B = tail,  m₅ = ∑ᵥ∈A p(v)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2295144"/>
            <a:ext cx="480974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Cambria Math"/>
              </a:rPr>
              <a:t>H(p) = −∑ᵥ∈A p(v)log p(v) − ∑ᵥ∈B p(v)log p(v)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2551176"/>
            <a:ext cx="4864608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26B70"/>
                </a:solidFill>
                <a:latin typeface="Arial"/>
              </a:rPr>
              <a:t>Substitute p=m₅q_in on A and p=(1−m₅)q_out on B; expand 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0528" y="2798064"/>
            <a:ext cx="4718304" cy="31089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2788920"/>
            <a:ext cx="46634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7455"/>
                </a:solidFill>
                <a:latin typeface="Cambria Math"/>
              </a:rPr>
              <a:t>⇒ H = H_B(m₅) + m₅H(q_in) + (1−m₅)H(q_out)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3264408"/>
            <a:ext cx="491947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Diagnostic probes isolate shape: H(q_out) normalizes away tail amount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2" y="3456432"/>
            <a:ext cx="132588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chance = 0.50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456432"/>
            <a:ext cx="107899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3621023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8191A"/>
                </a:solidFill>
                <a:latin typeface="Arial"/>
              </a:rPr>
              <a:t>Tail mass: how much escapes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3867911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H_B(m₅)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31352" y="3712463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31352" y="3712463"/>
            <a:ext cx="2142036" cy="26517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6496" y="366674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8191A"/>
                </a:solidFill>
                <a:latin typeface="Arial"/>
              </a:rPr>
              <a:t>0.742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426110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Head shape: how top-5 splits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50799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H(q_in) · conditional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31352" y="435254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31352" y="4352544"/>
            <a:ext cx="1876495" cy="265176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26496" y="430682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0.712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4224" y="490118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Tail shape: how tail splits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514807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H(q_out) · conditional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31352" y="499262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31352" y="4992624"/>
            <a:ext cx="41148" cy="265176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26496" y="494690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0.502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01384" y="5413248"/>
            <a:ext cx="4736592" cy="23774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28816" y="5394960"/>
            <a:ext cx="46817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7455"/>
                </a:solidFill>
                <a:latin typeface="Arial"/>
              </a:rPr>
              <a:t>Amount matters (.742); allocation inside the tail does not (.502)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Takeaway: tail-sensitive signals detect how much mass escapes the head—not how that tail mass is arranged.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762326"/>
                </a:solidFill>
                <a:latin typeface="Times New Roman"/>
              </a:rPr>
              <a:t>From Entropy to tl_sum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isolate the escape signal  →  make it monotonic  →  aggregate across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11183112" cy="1975104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222199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Identify the strongest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57984"/>
            <a:ext cx="2542032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91A"/>
                </a:solidFill>
                <a:latin typeface="Cambria Math"/>
              </a:rPr>
              <a:t>H_B(m₅)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5" y="2551176"/>
            <a:ext cx="2468880" cy="24688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532888"/>
            <a:ext cx="2450592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escape 0.742  &gt;  full entropy 0.726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34640"/>
            <a:ext cx="272491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discard within-top-5 and tail-composition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79976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773936"/>
            <a:ext cx="2276856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Design a monotonic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2139696"/>
            <a:ext cx="267004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H_B(m₅)  →  −log m₅⁽ᵗ⁾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4568" y="2542032"/>
            <a:ext cx="2395728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523744"/>
            <a:ext cx="237744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C65B42"/>
                </a:solidFill>
                <a:latin typeface="Arial"/>
              </a:rPr>
              <a:t>H_B is not globally monotonic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4568" y="2798064"/>
            <a:ext cx="2395728" cy="20116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2779776"/>
            <a:ext cx="237744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7455"/>
                </a:solidFill>
                <a:latin typeface="Arial"/>
              </a:rPr>
              <a:t>less top-5 mass → larger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1645920"/>
            <a:ext cx="3749039" cy="141732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45552" y="1810512"/>
            <a:ext cx="283464" cy="283464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1773936"/>
            <a:ext cx="288036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Aggregate over the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2084831"/>
            <a:ext cx="3145536" cy="6400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137455"/>
                </a:solidFill>
                <a:latin typeface="Cambria Math"/>
              </a:rPr>
              <a:t>tl_sum = ∑ₜ −log m₅⁽ᵗ⁾
= −log ∏ₜ m₅⁽ᵗ⁾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798064"/>
            <a:ext cx="3054096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joint surprisal of staying inside top-5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47872"/>
            <a:ext cx="672084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3547872"/>
            <a:ext cx="4233672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694176"/>
            <a:ext cx="192024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Times New Roman"/>
              </a:rPr>
              <a:t>Why sum?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2072" y="3749039"/>
            <a:ext cx="39502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26B70"/>
                </a:solidFill>
                <a:latin typeface="Arial"/>
              </a:rPr>
              <a:t>wrong answers often leak a little at several positions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" y="4416552"/>
            <a:ext cx="842345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2576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68296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468880" y="4416552"/>
            <a:ext cx="806500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95728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86784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986784" y="4416552"/>
            <a:ext cx="779617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48256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288536"/>
            <a:ext cx="34747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68112" y="4087368"/>
            <a:ext cx="1353312" cy="841248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97296" y="4114800"/>
            <a:ext cx="69494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7455"/>
                </a:solidFill>
                <a:latin typeface="Cambria Math"/>
              </a:rPr>
              <a:t>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4453128"/>
            <a:ext cx="109728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7455"/>
                </a:solidFill>
                <a:latin typeface="Arial"/>
              </a:rPr>
              <a:t>tl_sum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" y="5129784"/>
            <a:ext cx="2542032" cy="32004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5111496"/>
            <a:ext cx="252374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Worst token: keeps one position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30168" y="5129784"/>
            <a:ext cx="3136392" cy="32004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39312" y="5111496"/>
            <a:ext cx="311810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tl_sum: all positions accumulate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7536" y="3694176"/>
            <a:ext cx="2084831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Times New Roman"/>
              </a:rPr>
              <a:t>Aggregation scan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0112" y="3931920"/>
            <a:ext cx="13258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08392" y="413308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8191A"/>
                </a:solidFill>
                <a:latin typeface="Arial"/>
              </a:rPr>
              <a:t>tl_sum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8795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869680" y="4187952"/>
            <a:ext cx="1956468" cy="274320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90504" y="414223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8392" y="463600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min_top5m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69680" y="469087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69680" y="4690872"/>
            <a:ext cx="1662799" cy="274320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0504" y="464515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92" y="513892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tl_mean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69680" y="519379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869680" y="5193792"/>
            <a:ext cx="527809" cy="274320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90504" y="514807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0.7133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45552" y="5504688"/>
            <a:ext cx="3419856" cy="15544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54696" y="5477256"/>
            <a:ext cx="340156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37455"/>
                </a:solidFill>
                <a:latin typeface="Arial"/>
              </a:rPr>
              <a:t>tl_sum vs. min_top5m: paired bootstrap p &lt; 0.001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 i="0">
                <a:solidFill>
                  <a:srgbClr val="137455"/>
                </a:solidFill>
                <a:latin typeface="Times New Roman"/>
              </a:rPr>
              <a:t>Takeaway: tl_sum is built from the top-5 escape signal identified by entropy decomposition—not an ad hoc formula.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Why Top-5? Deterministic, Not Random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1">
                <a:solidFill>
                  <a:srgbClr val="626B70"/>
                </a:solidFill>
                <a:latin typeface="Times New Roman"/>
              </a:rPr>
              <a:t>At each decoding step, rank the full-vocabulary softmax probabilities.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679399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9792" y="1417320"/>
            <a:ext cx="420624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609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What happens at token 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1664208"/>
            <a:ext cx="177393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7455"/>
                </a:solidFill>
                <a:latin typeface="Arial"/>
              </a:rPr>
              <a:t>deterministic at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logits at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one score /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softmax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p_t(v) over |V|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sort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largest to smallest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862072"/>
            <a:ext cx="25786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Illustrative ranked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182112"/>
            <a:ext cx="2515514" cy="384048"/>
          </a:xfrm>
          <a:prstGeom prst="rect">
            <a:avLst/>
          </a:prstGeom>
          <a:solidFill>
            <a:srgbClr val="1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218688"/>
            <a:ext cx="251551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194" y="3182112"/>
            <a:ext cx="1617116" cy="384048"/>
          </a:xfrm>
          <a:prstGeom prst="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4194" y="3218688"/>
            <a:ext cx="1617116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310" y="3182112"/>
            <a:ext cx="718718" cy="384048"/>
          </a:xfrm>
          <a:prstGeom prst="rect">
            <a:avLst/>
          </a:prstGeom>
          <a:solidFill>
            <a:srgbClr val="5FB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1310" y="3218688"/>
            <a:ext cx="718718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0029" y="3182112"/>
            <a:ext cx="479145" cy="384048"/>
          </a:xfrm>
          <a:prstGeom prst="rect">
            <a:avLst/>
          </a:prstGeom>
          <a:solidFill>
            <a:srgbClr val="8DC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20029" y="3218688"/>
            <a:ext cx="479145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174" y="3182112"/>
            <a:ext cx="299466" cy="384048"/>
          </a:xfrm>
          <a:prstGeom prst="rect">
            <a:avLst/>
          </a:prstGeom>
          <a:solidFill>
            <a:srgbClr val="B7D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8640" y="3182112"/>
            <a:ext cx="359359" cy="384048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640" y="3218688"/>
            <a:ext cx="359359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6…|V|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602736"/>
            <a:ext cx="49560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7455"/>
                </a:solidFill>
                <a:latin typeface="Arial"/>
              </a:rPr>
              <a:t>TOP-5 candidate set A_t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602736"/>
            <a:ext cx="6126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C65B42"/>
                </a:solidFill>
                <a:latin typeface="Arial"/>
              </a:rPr>
              <a:t>TAIL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" y="3968496"/>
            <a:ext cx="6117336" cy="56692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023360"/>
            <a:ext cx="2542032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Cambria Math"/>
              </a:rPr>
              <a:t>mₜ = ∑ᵢ₌₁⁵ p₍ᵢ₎⁽ᵗ⁾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023360"/>
            <a:ext cx="2788920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tail mass = 1 − mₜ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" y="4700016"/>
            <a:ext cx="6117336" cy="34747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681728"/>
            <a:ext cx="5916168" cy="3840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37455"/>
                </a:solidFill>
                <a:latin typeface="Arial"/>
              </a:rPr>
              <a:t>No sampling: A_t is always the five largest probabilities under p_t.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" y="5166360"/>
            <a:ext cx="6117336" cy="329184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148072"/>
            <a:ext cx="5916168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65B42"/>
                </a:solidFill>
                <a:latin typeface="Arial"/>
              </a:rPr>
              <a:t>Tail means ranks 6…|V|—not the bottom five tokens.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8" y="1609344"/>
            <a:ext cx="249631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Why choose k = 5?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4112" y="1965960"/>
            <a:ext cx="3593592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626B70"/>
                </a:solidFill>
                <a:latin typeface="Arial"/>
              </a:rPr>
              <a:t>tl_sum@k = Σ_t −log m_{k,t} · macro AUROC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450592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2487168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32520" y="2487168"/>
            <a:ext cx="1415125" cy="283464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99064" y="2450592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145536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8191A"/>
                </a:solidFill>
                <a:latin typeface="Arial"/>
              </a:rPr>
              <a:t>k = 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3182112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32520" y="3182112"/>
            <a:ext cx="1955810" cy="283464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99064" y="3145536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3840480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10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32520" y="3877056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32520" y="3877056"/>
            <a:ext cx="1989185" cy="283464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99064" y="3840480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0.7498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54112" y="4379976"/>
            <a:ext cx="3611880" cy="28346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63256" y="4361688"/>
            <a:ext cx="3593592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Arial"/>
              </a:rPr>
              <a:t>k=5 ≈ k=10 (p=.824); k=2 is lower (p=.022)</a:t>
            </a:r>
          </a:p>
        </p:txBody>
      </p:sp>
      <p:sp>
        <p:nvSpPr>
          <p:cNvPr id="63" name="Oval 62"/>
          <p:cNvSpPr/>
          <p:nvPr/>
        </p:nvSpPr>
        <p:spPr>
          <a:xfrm>
            <a:off x="7808975" y="481888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144" y="474573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Allows several casing, alias, and subword variants.</a:t>
            </a:r>
          </a:p>
        </p:txBody>
      </p:sp>
      <p:sp>
        <p:nvSpPr>
          <p:cNvPr id="65" name="Oval 64"/>
          <p:cNvSpPr/>
          <p:nvPr/>
        </p:nvSpPr>
        <p:spPr>
          <a:xfrm>
            <a:off x="7808975" y="513892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506577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Still keeps the candidate set narrow.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4112" y="5413248"/>
            <a:ext cx="3602736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1">
                <a:solidFill>
                  <a:srgbClr val="626B70"/>
                </a:solidFill>
                <a:latin typeface="Arial"/>
              </a:rPr>
              <a:t>Post-hoc sensitivity on the same frozen 4×1,000 direct traces.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top-5 is deterministic; k=5 is a validated but model- and tokenizer-dependent hyperparameter.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Entropy Decomposition: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1">
                <a:solidFill>
                  <a:srgbClr val="626B70"/>
                </a:solidFill>
                <a:latin typeface="Times New Roman"/>
              </a:rPr>
              <a:t>Split the vocabulary into the top-5 set A and the tail B; drop token index t for readability.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0744"/>
            <a:ext cx="11183112" cy="868680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A = V₅(p),   B = V \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36192"/>
            <a:ext cx="233172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m = ∑ᵥ∈A p(v)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qᵢₙ(v) = p(v)/m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8346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qₒᵤₜ(v) = p(v)/(1−m)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74519"/>
            <a:ext cx="1252728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1874519"/>
            <a:ext cx="1234440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50592"/>
            <a:ext cx="7333488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450592"/>
            <a:ext cx="3639312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15184"/>
            <a:ext cx="25146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8191A"/>
                </a:solidFill>
                <a:latin typeface="Times New Roman"/>
              </a:rPr>
              <a:t>Algebraic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79192"/>
            <a:ext cx="2148840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exact—not an approximation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3044952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031236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990088"/>
            <a:ext cx="6245352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191A"/>
                </a:solidFill>
                <a:latin typeface="Cambria Math"/>
              </a:rPr>
              <a:t>H(p) = −∑ᵥ∈A p(v) log p(v)  −  ∑ᵥ∈B p(v) log p(v)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55244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11296"/>
            <a:ext cx="6245352" cy="6309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18191A"/>
                </a:solidFill>
                <a:latin typeface="Cambria Math"/>
              </a:rPr>
              <a:t>= −∑ᵥ∈A m qᵢₙ(v) log[m qᵢₙ(v)]
  −∑ᵥ∈B (1−m) qₒᵤₜ(v) log[(1−m) qₒᵤₜ(v)]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4297679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396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242816"/>
            <a:ext cx="6245352" cy="6126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Cambria Math"/>
              </a:rPr>
              <a:t>= −m log m − (1−m) log(1−m)
  + m H(qᵢₙ) + (1−m) H(qₒᵤₜ)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" y="5010912"/>
            <a:ext cx="6656832" cy="45720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029200"/>
            <a:ext cx="636422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37455"/>
                </a:solidFill>
                <a:latin typeface="Cambria Math"/>
              </a:rPr>
              <a:t>H(p) = H_B(m) + m H(qᵢₙ) + (1−m) H(qₒᵤₜ)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596896"/>
            <a:ext cx="3108960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191A"/>
                </a:solidFill>
                <a:latin typeface="Times New Roman"/>
              </a:rPr>
              <a:t>Empirical probes (conditional; approximate)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52928"/>
            <a:ext cx="310896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0"/>
                </a:solidFill>
                <a:latin typeface="Arial"/>
              </a:rPr>
              <a:t>The exact identity weights the last two by m and 1−m.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3054096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3108960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H_B(m)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364991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top-5 vs. tail membership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3182112"/>
            <a:ext cx="539496" cy="256032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53344" y="3163824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0.742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730752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3785615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H(qᵢₙ)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041648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competition inside top-5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44200" y="3858768"/>
            <a:ext cx="539496" cy="256032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53344" y="3840480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407408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462272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H(qₒᵤₜ)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4718304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composition inside the 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4535424"/>
            <a:ext cx="539496" cy="256032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3344" y="4517136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0.502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2752" y="5065776"/>
            <a:ext cx="3108960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5047488"/>
            <a:ext cx="309067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C65B42"/>
                </a:solidFill>
                <a:latin typeface="Arial"/>
              </a:rPr>
              <a:t>Algebraic decomposition ends here.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2752" y="5340096"/>
            <a:ext cx="3108960" cy="26517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1896" y="5321808"/>
            <a:ext cx="309067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Cambria Math"/>
              </a:rPr>
              <a:t>Design: TLₜ = −log mₜ;  tl_sum = ∑ₜ TLₜ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decomposition locates the escape signal; surprisal is a motivated scoring choice, not an equality.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