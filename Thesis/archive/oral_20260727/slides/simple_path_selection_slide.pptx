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DCE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0B3972"/>
                </a:solidFill>
                <a:latin typeface="Times New Roman"/>
              </a:rPr>
              <a:t>Verifier Path 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7B9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7B9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7B9AAE"/>
                </a:solidFill>
                <a:latin typeface="Times New Roman"/>
              </a:rPr>
              <a:t>51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05840"/>
            <a:ext cx="10927080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1">
                <a:solidFill>
                  <a:srgbClr val="52606D"/>
                </a:solidFill>
                <a:latin typeface="Arial"/>
              </a:rPr>
              <a:t>Thesis-formatted result  ·  accuracy-first tail-leakage gate  τ = 0.002305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362456"/>
            <a:ext cx="11018520" cy="4498848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B6C8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517904"/>
            <a:ext cx="1792224" cy="246888"/>
          </a:xfrm>
          <a:prstGeom prst="round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508760"/>
            <a:ext cx="1719072" cy="2651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173B54"/>
                </a:solidFill>
                <a:latin typeface="Arial"/>
              </a:rPr>
              <a:t>Thesis Table 5.7 · simplified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536192"/>
            <a:ext cx="7159752" cy="30175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8191A"/>
                </a:solidFill>
                <a:latin typeface="Times New Roman"/>
              </a:rPr>
              <a:t>Final Verifier Choices by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13432" y="1828800"/>
            <a:ext cx="7562088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1">
                <a:solidFill>
                  <a:srgbClr val="52606D"/>
                </a:solidFill>
                <a:latin typeface="Times New Roman"/>
              </a:rPr>
              <a:t>Selection counts and percentages across 1,000 questions per dataset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78992" y="2185416"/>
            <a:ext cx="10049255" cy="14630"/>
          </a:xfrm>
          <a:prstGeom prst="rect">
            <a:avLst/>
          </a:prstGeom>
          <a:solidFill>
            <a:srgbClr val="35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33856" y="2221992"/>
            <a:ext cx="2679191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191A"/>
                </a:solidFill>
                <a:latin typeface="Times New Roman"/>
              </a:rPr>
              <a:t>Dataset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2775" y="2221992"/>
            <a:ext cx="3328415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191A"/>
                </a:solidFill>
                <a:latin typeface="Times New Roman"/>
              </a:rPr>
              <a:t>Direct chosen
n (%)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19" y="2221992"/>
            <a:ext cx="3712463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1" i="0">
                <a:solidFill>
                  <a:srgbClr val="18191A"/>
                </a:solidFill>
                <a:latin typeface="Times New Roman"/>
              </a:rPr>
              <a:t>Decomposition path
n (%)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78992" y="2825496"/>
            <a:ext cx="10049255" cy="9144"/>
          </a:xfrm>
          <a:prstGeom prst="rect">
            <a:avLst/>
          </a:prstGeom>
          <a:solidFill>
            <a:srgbClr val="35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52144" y="2852927"/>
            <a:ext cx="2642615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Times New Roman"/>
              </a:rPr>
              <a:t>HotpotQA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41063" y="2852927"/>
            <a:ext cx="3291839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Times New Roman"/>
              </a:rPr>
              <a:t>171 (17.1%)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79207" y="2852927"/>
            <a:ext cx="3675887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Times New Roman"/>
              </a:rPr>
              <a:t>829 (82.9%)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" y="3355847"/>
            <a:ext cx="2642615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Times New Roman"/>
              </a:rPr>
              <a:t>2Wiki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41063" y="3355847"/>
            <a:ext cx="3291839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Times New Roman"/>
              </a:rPr>
              <a:t>25 (2.5%)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9207" y="3355847"/>
            <a:ext cx="3675887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Times New Roman"/>
              </a:rPr>
              <a:t>975 (97.5%)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" y="3858768"/>
            <a:ext cx="2642615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Times New Roman"/>
              </a:rPr>
              <a:t>MuSiQue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41063" y="3858768"/>
            <a:ext cx="3291839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Times New Roman"/>
              </a:rPr>
              <a:t>121 (12.1%)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79207" y="3858768"/>
            <a:ext cx="3675887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Times New Roman"/>
              </a:rPr>
              <a:t>879 (87.9%)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" y="4361688"/>
            <a:ext cx="2642615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Times New Roman"/>
              </a:rPr>
              <a:t>PopQA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41063" y="4361688"/>
            <a:ext cx="3291839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Times New Roman"/>
              </a:rPr>
              <a:t>10 (1.0%)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79207" y="4361688"/>
            <a:ext cx="3675887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Times New Roman"/>
              </a:rPr>
              <a:t>990 (99.0%)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78992" y="4837176"/>
            <a:ext cx="10049255" cy="9144"/>
          </a:xfrm>
          <a:prstGeom prst="rect">
            <a:avLst/>
          </a:prstGeom>
          <a:solidFill>
            <a:srgbClr val="35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52144" y="4864608"/>
            <a:ext cx="2642615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Times New Roman"/>
              </a:rPr>
              <a:t>Pooled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41063" y="4864608"/>
            <a:ext cx="3291839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Times New Roman"/>
              </a:rPr>
              <a:t>327 (8.2%)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9207" y="4864608"/>
            <a:ext cx="3675887" cy="4480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8191A"/>
                </a:solidFill>
                <a:latin typeface="Times New Roman"/>
              </a:rPr>
              <a:t>3,673 (91.8%)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78992" y="5340096"/>
            <a:ext cx="10049255" cy="14630"/>
          </a:xfrm>
          <a:prstGeom prst="rect">
            <a:avLst/>
          </a:prstGeom>
          <a:solidFill>
            <a:srgbClr val="353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67712" y="5449824"/>
            <a:ext cx="7644383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1">
                <a:solidFill>
                  <a:srgbClr val="52606D"/>
                </a:solidFill>
                <a:latin typeface="Arial"/>
              </a:rPr>
              <a:t>Selection percentages describe routing behavior, not candidate correctness.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