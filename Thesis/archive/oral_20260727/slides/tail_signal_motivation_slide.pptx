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948672" y="0"/>
            <a:ext cx="2240280" cy="530352"/>
          </a:xfrm>
          <a:prstGeom prst="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40112" y="18288"/>
            <a:ext cx="1993392" cy="43891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191A"/>
                </a:solidFill>
                <a:latin typeface="Times New Roman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10312"/>
            <a:ext cx="9281160" cy="58521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1D4967"/>
                </a:solidFill>
                <a:latin typeface="Times New Roman"/>
              </a:rPr>
              <a:t>Same Strong Top Prediction, Different Confidence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0753344" cy="10972"/>
          </a:xfrm>
          <a:prstGeom prst="rect">
            <a:avLst/>
          </a:prstGeom>
          <a:solidFill>
            <a:srgbClr val="1D49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92240"/>
            <a:ext cx="10863072" cy="10972"/>
          </a:xfrm>
          <a:prstGeom prst="rect">
            <a:avLst/>
          </a:prstGeom>
          <a:solidFill>
            <a:srgbClr val="1D49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66576" y="5879592"/>
            <a:ext cx="932688" cy="932688"/>
          </a:xfrm>
          <a:prstGeom prst="ellipse">
            <a:avLst/>
          </a:prstGeom>
          <a:solidFill>
            <a:srgbClr val="AEC1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31168" y="6510528"/>
            <a:ext cx="356616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D4967"/>
                </a:solidFill>
                <a:latin typeface="Times New Roman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987552"/>
            <a:ext cx="10972800" cy="27432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626B70"/>
                </a:solidFill>
                <a:latin typeface="Times New Roman"/>
              </a:rPr>
              <a:t>Illustrative example: "PO" has probability 0.60 in both cases. The warning is probability escaping behind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353312"/>
            <a:ext cx="3127248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" y="1481328"/>
            <a:ext cx="786384" cy="347472"/>
          </a:xfrm>
          <a:prstGeom prst="roundRect">
            <a:avLst/>
          </a:prstGeom>
          <a:solidFill>
            <a:srgbClr val="D88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453896"/>
            <a:ext cx="786384" cy="3931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TOP-5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39" y="1408176"/>
            <a:ext cx="1938528" cy="49377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6B70"/>
                </a:solidFill>
                <a:latin typeface="Arial"/>
              </a:rPr>
              <a:t>the five highest-probability next tokens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31336" y="1463040"/>
            <a:ext cx="310896" cy="34747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D4967"/>
                </a:solidFill>
                <a:latin typeface="Times New Roman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1353312"/>
            <a:ext cx="3127248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06824" y="1481328"/>
            <a:ext cx="786384" cy="347472"/>
          </a:xfrm>
          <a:prstGeom prst="roundRect">
            <a:avLst/>
          </a:prstGeom>
          <a:solidFill>
            <a:srgbClr val="1D49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06824" y="1453896"/>
            <a:ext cx="786384" cy="3931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m₅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3792" y="1408176"/>
            <a:ext cx="1938528" cy="49377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6B70"/>
                </a:solidFill>
                <a:latin typeface="Arial"/>
              </a:rPr>
              <a:t>their probability mass added together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3488" y="1463040"/>
            <a:ext cx="310896" cy="34747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D4967"/>
                </a:solidFill>
                <a:latin typeface="Times New Roman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62672" y="1353312"/>
            <a:ext cx="3127248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808976" y="1481328"/>
            <a:ext cx="786384" cy="347472"/>
          </a:xfrm>
          <a:prstGeom prst="round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08976" y="1453896"/>
            <a:ext cx="786384" cy="3931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TAIL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5944" y="1408176"/>
            <a:ext cx="1938528" cy="49377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6B70"/>
                </a:solidFill>
                <a:latin typeface="Arial"/>
              </a:rPr>
              <a:t>every token ranked 6 through |V|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2176272"/>
            <a:ext cx="5230368" cy="3310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59" y="2331720"/>
            <a:ext cx="4901183" cy="347472"/>
          </a:xfrm>
          <a:prstGeom prst="roundRect">
            <a:avLst/>
          </a:prstGeom>
          <a:solidFill>
            <a:srgbClr val="D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2304288"/>
            <a:ext cx="4791456" cy="40233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37455"/>
                </a:solidFill>
                <a:latin typeface="Arial"/>
              </a:rPr>
              <a:t>A · Mostly harmless case variation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" y="2743200"/>
            <a:ext cx="4736592" cy="2560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626B70"/>
                </a:solidFill>
                <a:latin typeface="Arial"/>
              </a:rPr>
              <a:t>The head is filled with plausible forms such as "PO" and "po".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28800" y="3072384"/>
            <a:ext cx="2889504" cy="384048"/>
          </a:xfrm>
          <a:prstGeom prst="roundRect">
            <a:avLst/>
          </a:prstGeom>
          <a:solidFill>
            <a:srgbClr val="DC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56232" y="3044952"/>
            <a:ext cx="2834640" cy="43891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3B54"/>
                </a:solidFill>
                <a:latin typeface="Arial"/>
              </a:rPr>
              <a:t>Top-1:  P("PO") = 0.60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3557016"/>
            <a:ext cx="4443984" cy="21945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26B70"/>
                </a:solidFill>
                <a:latin typeface="Arial"/>
              </a:rPr>
              <a:t>Five most likely next-token candidates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06424" y="3813048"/>
            <a:ext cx="804672" cy="530352"/>
          </a:xfrm>
          <a:prstGeom prst="roundRect">
            <a:avLst/>
          </a:prstGeom>
          <a:solidFill>
            <a:srgbClr val="1D49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33856" y="3831335"/>
            <a:ext cx="749808" cy="4846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FFFFFF"/>
                </a:solidFill>
                <a:latin typeface="Arial"/>
              </a:rPr>
              <a:t>PO
0.60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984248" y="3813048"/>
            <a:ext cx="804672" cy="530352"/>
          </a:xfrm>
          <a:prstGeom prst="roundRect">
            <a:avLst/>
          </a:prstGeom>
          <a:solidFill>
            <a:srgbClr val="668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11679" y="3831335"/>
            <a:ext cx="749808" cy="4846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FFFFFF"/>
                </a:solidFill>
                <a:latin typeface="Arial"/>
              </a:rPr>
              <a:t>po
0.22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862072" y="3813048"/>
            <a:ext cx="804672" cy="530352"/>
          </a:xfrm>
          <a:prstGeom prst="roundRect">
            <a:avLst/>
          </a:prstGeom>
          <a:solidFill>
            <a:srgbClr val="D88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89503" y="3831335"/>
            <a:ext cx="749808" cy="4846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FFFFFF"/>
                </a:solidFill>
                <a:latin typeface="Arial"/>
              </a:rPr>
              <a:t>Po
0.07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739896" y="3813048"/>
            <a:ext cx="804672" cy="530352"/>
          </a:xfrm>
          <a:prstGeom prst="roundRect">
            <a:avLst/>
          </a:prstGeom>
          <a:solidFill>
            <a:srgbClr val="D88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67328" y="3831335"/>
            <a:ext cx="749808" cy="4846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FFFFFF"/>
                </a:solidFill>
                <a:latin typeface="Arial"/>
              </a:rPr>
              <a:t>P
0.05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17720" y="3813048"/>
            <a:ext cx="804672" cy="530352"/>
          </a:xfrm>
          <a:prstGeom prst="roundRect">
            <a:avLst/>
          </a:prstGeom>
          <a:solidFill>
            <a:srgbClr val="D88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45152" y="3831335"/>
            <a:ext cx="749808" cy="4846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FFFFFF"/>
                </a:solidFill>
                <a:latin typeface="Arial"/>
              </a:rPr>
              <a:t>pO
0.03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" y="4315968"/>
            <a:ext cx="4425696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26B70"/>
                </a:solidFill>
                <a:latin typeface="Arial"/>
              </a:rPr>
              <a:t>Where the full 100% probability mass goes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15568" y="4535424"/>
            <a:ext cx="4315968" cy="310896"/>
          </a:xfrm>
          <a:prstGeom prst="roundRect">
            <a:avLst/>
          </a:prstGeom>
          <a:solidFill>
            <a:srgbClr val="E9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115568" y="4535424"/>
            <a:ext cx="4186488" cy="310896"/>
          </a:xfrm>
          <a:prstGeom prst="roundRect">
            <a:avLst/>
          </a:prstGeom>
          <a:solidFill>
            <a:srgbClr val="D88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302056" y="4535424"/>
            <a:ext cx="129479" cy="310896"/>
          </a:xfrm>
          <a:prstGeom prst="round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15568" y="4864608"/>
            <a:ext cx="2487168" cy="22860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D88922"/>
                </a:solidFill>
                <a:latin typeface="Arial"/>
              </a:rPr>
              <a:t>top-5 retained  97%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77056" y="4864608"/>
            <a:ext cx="1554480" cy="22860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4C86C6"/>
                </a:solidFill>
                <a:latin typeface="Arial"/>
              </a:rPr>
              <a:t>tail  3%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600200" y="5148072"/>
            <a:ext cx="3346704" cy="228600"/>
          </a:xfrm>
          <a:prstGeom prst="roundRect">
            <a:avLst/>
          </a:prstGeom>
          <a:solidFill>
            <a:srgbClr val="D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627632" y="5111496"/>
            <a:ext cx="3291840" cy="30175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37455"/>
                </a:solidFill>
                <a:latin typeface="Arial"/>
              </a:rPr>
              <a:t>Only 3% escapes → higher confidence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99632" y="2176272"/>
            <a:ext cx="5230368" cy="3310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364224" y="2331720"/>
            <a:ext cx="4901183" cy="347472"/>
          </a:xfrm>
          <a:prstGeom prst="roundRect">
            <a:avLst/>
          </a:prstGeom>
          <a:solidFill>
            <a:srgbClr val="F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19088" y="2304288"/>
            <a:ext cx="4791456" cy="40233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C9543E"/>
                </a:solidFill>
                <a:latin typeface="Arial"/>
              </a:rPr>
              <a:t>B · Strong top-1, but probability leaks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46520" y="2743200"/>
            <a:ext cx="4736592" cy="2560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626B70"/>
                </a:solidFill>
                <a:latin typeface="Arial"/>
              </a:rPr>
              <a:t>The top token is unchanged, yet much more mass moves outside the candidate set.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70064" y="3072384"/>
            <a:ext cx="2889504" cy="384048"/>
          </a:xfrm>
          <a:prstGeom prst="roundRect">
            <a:avLst/>
          </a:prstGeom>
          <a:solidFill>
            <a:srgbClr val="DC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97496" y="3044952"/>
            <a:ext cx="2834640" cy="43891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3B54"/>
                </a:solidFill>
                <a:latin typeface="Arial"/>
              </a:rPr>
              <a:t>Top-1:  P("PO") = 0.60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92824" y="3557016"/>
            <a:ext cx="4443984" cy="21945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26B70"/>
                </a:solidFill>
                <a:latin typeface="Arial"/>
              </a:rPr>
              <a:t>Five most likely next-token candidates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647688" y="3813048"/>
            <a:ext cx="804672" cy="530352"/>
          </a:xfrm>
          <a:prstGeom prst="roundRect">
            <a:avLst/>
          </a:prstGeom>
          <a:solidFill>
            <a:srgbClr val="1D49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75120" y="3831335"/>
            <a:ext cx="749808" cy="4846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FFFFFF"/>
                </a:solidFill>
                <a:latin typeface="Arial"/>
              </a:rPr>
              <a:t>PO
0.60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525512" y="3813048"/>
            <a:ext cx="804672" cy="530352"/>
          </a:xfrm>
          <a:prstGeom prst="roundRect">
            <a:avLst/>
          </a:prstGeom>
          <a:solidFill>
            <a:srgbClr val="668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3831335"/>
            <a:ext cx="749808" cy="4846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FFFFFF"/>
                </a:solidFill>
                <a:latin typeface="Arial"/>
              </a:rPr>
              <a:t>po
0.08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403336" y="3813048"/>
            <a:ext cx="804672" cy="530352"/>
          </a:xfrm>
          <a:prstGeom prst="roundRect">
            <a:avLst/>
          </a:prstGeom>
          <a:solidFill>
            <a:srgbClr val="D88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30768" y="3831335"/>
            <a:ext cx="749808" cy="4846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FFFFFF"/>
                </a:solidFill>
                <a:latin typeface="Arial"/>
              </a:rPr>
              <a:t>Po
0.04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281160" y="3813048"/>
            <a:ext cx="804672" cy="530352"/>
          </a:xfrm>
          <a:prstGeom prst="roundRect">
            <a:avLst/>
          </a:prstGeom>
          <a:solidFill>
            <a:srgbClr val="D88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308592" y="3831335"/>
            <a:ext cx="749808" cy="4846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FFFFFF"/>
                </a:solidFill>
                <a:latin typeface="Arial"/>
              </a:rPr>
              <a:t>P
0.03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158984" y="3813048"/>
            <a:ext cx="804672" cy="530352"/>
          </a:xfrm>
          <a:prstGeom prst="roundRect">
            <a:avLst/>
          </a:prstGeom>
          <a:solidFill>
            <a:srgbClr val="D88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186415" y="3831335"/>
            <a:ext cx="749808" cy="4846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FFFFFF"/>
                </a:solidFill>
                <a:latin typeface="Arial"/>
              </a:rPr>
              <a:t>pO
0.03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01968" y="4315968"/>
            <a:ext cx="4425696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26B70"/>
                </a:solidFill>
                <a:latin typeface="Arial"/>
              </a:rPr>
              <a:t>Where the full 100% probability mass goes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656832" y="4535424"/>
            <a:ext cx="4315968" cy="310896"/>
          </a:xfrm>
          <a:prstGeom prst="roundRect">
            <a:avLst/>
          </a:prstGeom>
          <a:solidFill>
            <a:srgbClr val="E9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6656832" y="4535424"/>
            <a:ext cx="3366455" cy="310896"/>
          </a:xfrm>
          <a:prstGeom prst="roundRect">
            <a:avLst/>
          </a:prstGeom>
          <a:solidFill>
            <a:srgbClr val="D88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10023287" y="4535424"/>
            <a:ext cx="949512" cy="310896"/>
          </a:xfrm>
          <a:prstGeom prst="round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56832" y="4864608"/>
            <a:ext cx="2487168" cy="22860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D88922"/>
                </a:solidFill>
                <a:latin typeface="Arial"/>
              </a:rPr>
              <a:t>top-5 retained  78%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418320" y="4864608"/>
            <a:ext cx="1554480" cy="22860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4C86C6"/>
                </a:solidFill>
                <a:latin typeface="Arial"/>
              </a:rPr>
              <a:t>tail  22%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141464" y="5148072"/>
            <a:ext cx="3346704" cy="228600"/>
          </a:xfrm>
          <a:prstGeom prst="roundRect">
            <a:avLst/>
          </a:prstGeom>
          <a:solidFill>
            <a:srgbClr val="F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168896" y="5111496"/>
            <a:ext cx="3291840" cy="30175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9543E"/>
                </a:solidFill>
                <a:latin typeface="Arial"/>
              </a:rPr>
              <a:t>22% escapes → lower confidence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49808" y="5632704"/>
            <a:ext cx="10680192" cy="658368"/>
          </a:xfrm>
          <a:prstGeom prst="roundRect">
            <a:avLst/>
          </a:prstGeom>
          <a:solidFill>
            <a:srgbClr val="DC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50976" y="5715000"/>
            <a:ext cx="1344168" cy="45720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3B54"/>
                </a:solidFill>
                <a:latin typeface="Arial"/>
              </a:rPr>
              <a:t>Why k = 5?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423160" y="5733288"/>
            <a:ext cx="896112" cy="393192"/>
          </a:xfrm>
          <a:prstGeom prst="roundRect">
            <a:avLst/>
          </a:prstGeom>
          <a:solidFill>
            <a:srgbClr val="AEB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450591" y="5705856"/>
            <a:ext cx="841248" cy="44805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k=2  .741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456432" y="5733288"/>
            <a:ext cx="896112" cy="393192"/>
          </a:xfrm>
          <a:prstGeom prst="roundRect">
            <a:avLst/>
          </a:prstGeom>
          <a:solidFill>
            <a:srgbClr val="137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483863" y="5705856"/>
            <a:ext cx="841248" cy="44805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k=5  .749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489704" y="5733288"/>
            <a:ext cx="896112" cy="393192"/>
          </a:xfrm>
          <a:prstGeom prst="roundRect">
            <a:avLst/>
          </a:prstGeom>
          <a:solidFill>
            <a:srgbClr val="6F9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517136" y="5705856"/>
            <a:ext cx="841248" cy="44805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k=10  .750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559552" y="5696712"/>
            <a:ext cx="5596128" cy="47548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73B54"/>
                </a:solidFill>
                <a:latin typeface="Arial"/>
              </a:rPr>
              <a:t>AUROC: k=5 is the smallest cutoff on the performance plateau—not a mathematical constant.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