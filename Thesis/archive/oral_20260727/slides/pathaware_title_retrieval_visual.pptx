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064B6B"/>
                </a:solidFill>
                <a:latin typeface="Times New Roman"/>
              </a:rPr>
              <a:t>Path-aware Retrieval Matches the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9AAE"/>
                </a:solidFill>
                <a:latin typeface="Times New Roman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14984"/>
            <a:ext cx="10972800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2606D"/>
                </a:solidFill>
                <a:latin typeface="Arial"/>
              </a:rPr>
              <a:t>Same retriever, different query forms  →  use a path-specific title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417320"/>
            <a:ext cx="7616952" cy="1673352"/>
          </a:xfrm>
          <a:prstGeom prst="roundRect">
            <a:avLst/>
          </a:prstGeom>
          <a:solidFill>
            <a:srgbClr val="F4F8FC"/>
          </a:solidFill>
          <a:ln w="1016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1563624"/>
            <a:ext cx="1389888" cy="283464"/>
          </a:xfrm>
          <a:prstGeom prst="roundRect">
            <a:avLst/>
          </a:prstGeom>
          <a:solidFill>
            <a:srgbClr val="17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59052"/>
            <a:ext cx="13898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DIRECT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920240"/>
            <a:ext cx="248716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0B3972"/>
                </a:solidFill>
                <a:latin typeface="Arial"/>
              </a:rPr>
              <a:t>Long original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194560"/>
            <a:ext cx="248716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2606D"/>
                </a:solidFill>
                <a:latin typeface="Arial"/>
              </a:rPr>
              <a:t>More words  ·  multiple 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32888"/>
            <a:ext cx="2267712" cy="68580"/>
          </a:xfrm>
          <a:prstGeom prst="roundRect">
            <a:avLst/>
          </a:prstGeom>
          <a:solidFill>
            <a:srgbClr val="86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688336"/>
            <a:ext cx="1993392" cy="68580"/>
          </a:xfrm>
          <a:prstGeom prst="roundRect">
            <a:avLst/>
          </a:prstGeom>
          <a:solidFill>
            <a:srgbClr val="86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2843784"/>
            <a:ext cx="1298448" cy="68580"/>
          </a:xfrm>
          <a:prstGeom prst="roundRect">
            <a:avLst/>
          </a:prstGeom>
          <a:solidFill>
            <a:srgbClr val="86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3273552" y="2084832"/>
            <a:ext cx="384048" cy="329184"/>
          </a:xfrm>
          <a:prstGeom prst="rightArrow">
            <a:avLst/>
          </a:prstGeom>
          <a:solidFill>
            <a:srgbClr val="17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03904" y="1728216"/>
            <a:ext cx="1847088" cy="1060704"/>
          </a:xfrm>
          <a:prstGeom prst="roundRect">
            <a:avLst/>
          </a:prstGeom>
          <a:solidFill>
            <a:srgbClr val="DCE9F7"/>
          </a:solidFill>
          <a:ln w="12700">
            <a:solidFill>
              <a:srgbClr val="17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1828800"/>
            <a:ext cx="114300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2606D"/>
                </a:solidFill>
                <a:latin typeface="Arial"/>
              </a:rPr>
              <a:t>TITLE MATCHING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819656"/>
            <a:ext cx="457200" cy="246888"/>
          </a:xfrm>
          <a:prstGeom prst="roundRect">
            <a:avLst/>
          </a:prstGeom>
          <a:solidFill>
            <a:srgbClr val="17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02352" y="1842516"/>
            <a:ext cx="192024" cy="1920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2" y="2075688"/>
            <a:ext cx="160934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67D2"/>
                </a:solidFill>
                <a:latin typeface="Arial"/>
              </a:rPr>
              <a:t>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2377440"/>
            <a:ext cx="1609344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3972"/>
                </a:solidFill>
                <a:latin typeface="Arial"/>
              </a:rPr>
              <a:t>Passage content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569464"/>
            <a:ext cx="1609344" cy="15544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2606D"/>
                </a:solidFill>
                <a:latin typeface="Arial"/>
              </a:rPr>
              <a:t>Keep the full question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806440" y="2084832"/>
            <a:ext cx="384048" cy="329184"/>
          </a:xfrm>
          <a:prstGeom prst="rightArrow">
            <a:avLst/>
          </a:prstGeom>
          <a:solidFill>
            <a:srgbClr val="17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27648" y="1728216"/>
            <a:ext cx="1691640" cy="1060704"/>
          </a:xfrm>
          <a:prstGeom prst="roundRect">
            <a:avLst/>
          </a:prstGeom>
          <a:solidFill>
            <a:srgbClr val="F9E2E2"/>
          </a:solidFill>
          <a:ln w="12700">
            <a:solidFill>
              <a:srgbClr val="B6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0" y="1847088"/>
            <a:ext cx="420624" cy="420624"/>
          </a:xfrm>
          <a:prstGeom prst="ellipse">
            <a:avLst/>
          </a:prstGeom>
          <a:solidFill>
            <a:srgbClr val="B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18333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276856"/>
            <a:ext cx="1444752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B64B4B"/>
                </a:solidFill>
                <a:latin typeface="Arial"/>
              </a:rPr>
              <a:t>Avoid noisy title hits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2496312"/>
            <a:ext cx="1463040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52606D"/>
                </a:solidFill>
                <a:latin typeface="Arial"/>
              </a:rPr>
              <a:t>A stray keyword can retrieve
an irrelevant article.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3410712"/>
            <a:ext cx="7616952" cy="1673352"/>
          </a:xfrm>
          <a:prstGeom prst="roundRect">
            <a:avLst/>
          </a:prstGeom>
          <a:solidFill>
            <a:srgbClr val="F2FAF6"/>
          </a:solidFill>
          <a:ln w="1016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6384" y="3557016"/>
            <a:ext cx="1975104" cy="283464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3552444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Arial"/>
              </a:rPr>
              <a:t>DECOMPOSITION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3913632"/>
            <a:ext cx="248716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0B3972"/>
                </a:solidFill>
                <a:latin typeface="Arial"/>
              </a:rPr>
              <a:t>Short sub-question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187952"/>
            <a:ext cx="248716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2606D"/>
                </a:solidFill>
                <a:latin typeface="Arial"/>
              </a:rPr>
              <a:t>Entity-focused  ·  one knowledge need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489704"/>
            <a:ext cx="2148840" cy="356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489704"/>
            <a:ext cx="1975104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3972"/>
                </a:solidFill>
                <a:latin typeface="Arial"/>
              </a:rPr>
              <a:t>Who directed Inception?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273552" y="4078224"/>
            <a:ext cx="384048" cy="329184"/>
          </a:xfrm>
          <a:prstGeom prst="rightArrow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803904" y="3721608"/>
            <a:ext cx="1847088" cy="1060704"/>
          </a:xfrm>
          <a:prstGeom prst="roundRect">
            <a:avLst/>
          </a:prstGeom>
          <a:solidFill>
            <a:srgbClr val="E5F4EE"/>
          </a:solidFill>
          <a:ln w="1270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3822192"/>
            <a:ext cx="114300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2606D"/>
                </a:solidFill>
                <a:latin typeface="Arial"/>
              </a:rPr>
              <a:t>TITLE MATCHING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74920" y="3813048"/>
            <a:ext cx="457200" cy="246888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12664" y="3835908"/>
            <a:ext cx="192024" cy="1920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13632" y="4069080"/>
            <a:ext cx="160934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9C72"/>
                </a:solidFill>
                <a:latin typeface="Arial"/>
              </a:rPr>
              <a:t>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2" y="4370832"/>
            <a:ext cx="1609344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3972"/>
                </a:solidFill>
                <a:latin typeface="Arial"/>
              </a:rPr>
              <a:t>Title + passage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3632" y="4562856"/>
            <a:ext cx="1609344" cy="15544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2606D"/>
                </a:solidFill>
                <a:latin typeface="Arial"/>
              </a:rPr>
              <a:t>Use the entity as an anchor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806440" y="4078224"/>
            <a:ext cx="384048" cy="329184"/>
          </a:xfrm>
          <a:prstGeom prst="rightArrow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27648" y="3721608"/>
            <a:ext cx="1691640" cy="1060704"/>
          </a:xfrm>
          <a:prstGeom prst="roundRect">
            <a:avLst/>
          </a:prstGeom>
          <a:solidFill>
            <a:srgbClr val="E5F4EE"/>
          </a:solidFill>
          <a:ln w="12700">
            <a:solidFill>
              <a:srgbClr val="137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49440" y="3840480"/>
            <a:ext cx="420624" cy="420624"/>
          </a:xfrm>
          <a:prstGeom prst="ellipse">
            <a:avLst/>
          </a:prstGeom>
          <a:solidFill>
            <a:srgbClr val="13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82676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270248"/>
            <a:ext cx="1444752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37455"/>
                </a:solidFill>
                <a:latin typeface="Arial"/>
              </a:rPr>
              <a:t>Find the right article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7376" y="4489704"/>
            <a:ext cx="1463040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52606D"/>
                </a:solidFill>
                <a:latin typeface="Arial"/>
              </a:rPr>
              <a:t>The title points directly to
the target entity.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94776" y="1463040"/>
            <a:ext cx="3163824" cy="4352544"/>
          </a:xfrm>
          <a:prstGeom prst="roundRect">
            <a:avLst/>
          </a:prstGeom>
          <a:solidFill>
            <a:srgbClr val="E1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458200" y="1417320"/>
            <a:ext cx="3163824" cy="43525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659368" y="1600200"/>
            <a:ext cx="2761488" cy="420624"/>
          </a:xfrm>
          <a:prstGeom prst="round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0" y="1591056"/>
            <a:ext cx="2706624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3972"/>
                </a:solidFill>
                <a:latin typeface="Arial"/>
              </a:rPr>
              <a:t>TITLE POLICY COMPARISON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68512" y="2148840"/>
            <a:ext cx="841248" cy="932688"/>
          </a:xfrm>
          <a:prstGeom prst="roundRect">
            <a:avLst/>
          </a:prstGeom>
          <a:solidFill>
            <a:srgbClr val="F4F6F7"/>
          </a:solidFill>
          <a:ln w="11430">
            <a:solidFill>
              <a:srgbClr val="BAC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95944" y="2185416"/>
            <a:ext cx="786384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B3972"/>
                </a:solidFill>
                <a:latin typeface="Arial"/>
              </a:rPr>
              <a:t>UNIFORM OFF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41664" y="2423160"/>
            <a:ext cx="694944" cy="228600"/>
          </a:xfrm>
          <a:prstGeom prst="roundRect">
            <a:avLst/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0808" y="2423160"/>
            <a:ext cx="676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2606D"/>
                </a:solidFill>
                <a:latin typeface="Arial"/>
              </a:rPr>
              <a:t>Direct  OFF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41664" y="2706624"/>
            <a:ext cx="694944" cy="228600"/>
          </a:xfrm>
          <a:prstGeom prst="roundRect">
            <a:avLst/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50808" y="2706624"/>
            <a:ext cx="676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2606D"/>
                </a:solidFill>
                <a:latin typeface="Arial"/>
              </a:rPr>
              <a:t>Decomp  OFF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92056" y="2148840"/>
            <a:ext cx="841248" cy="932688"/>
          </a:xfrm>
          <a:prstGeom prst="roundRect">
            <a:avLst/>
          </a:prstGeom>
          <a:solidFill>
            <a:srgbClr val="F4F8FC"/>
          </a:solidFill>
          <a:ln w="11430">
            <a:solidFill>
              <a:srgbClr val="789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19488" y="2185416"/>
            <a:ext cx="786384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B3972"/>
                </a:solidFill>
                <a:latin typeface="Arial"/>
              </a:rPr>
              <a:t>UNIFORM 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65208" y="2423160"/>
            <a:ext cx="694944" cy="228600"/>
          </a:xfrm>
          <a:prstGeom prst="roundRect">
            <a:avLst/>
          </a:prstGeom>
          <a:solidFill>
            <a:srgbClr val="E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74352" y="2423160"/>
            <a:ext cx="676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7455"/>
                </a:solidFill>
                <a:latin typeface="Arial"/>
              </a:rPr>
              <a:t>Direct  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65208" y="2706624"/>
            <a:ext cx="694944" cy="228600"/>
          </a:xfrm>
          <a:prstGeom prst="roundRect">
            <a:avLst/>
          </a:prstGeom>
          <a:solidFill>
            <a:srgbClr val="E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74352" y="2706624"/>
            <a:ext cx="676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7455"/>
                </a:solidFill>
                <a:latin typeface="Arial"/>
              </a:rPr>
              <a:t>Decomp  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515600" y="2148840"/>
            <a:ext cx="841248" cy="932688"/>
          </a:xfrm>
          <a:prstGeom prst="roundRect">
            <a:avLst/>
          </a:prstGeom>
          <a:solidFill>
            <a:srgbClr val="F2FAF6"/>
          </a:solidFill>
          <a:ln w="1143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543032" y="2185416"/>
            <a:ext cx="786384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7455"/>
                </a:solidFill>
                <a:latin typeface="Arial"/>
              </a:rPr>
              <a:t>PATH-AWARE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588752" y="2423160"/>
            <a:ext cx="694944" cy="228600"/>
          </a:xfrm>
          <a:prstGeom prst="roundRect">
            <a:avLst/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97896" y="2423160"/>
            <a:ext cx="676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2606D"/>
                </a:solidFill>
                <a:latin typeface="Arial"/>
              </a:rPr>
              <a:t>Direct  OFF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588752" y="2706624"/>
            <a:ext cx="694944" cy="228600"/>
          </a:xfrm>
          <a:prstGeom prst="roundRect">
            <a:avLst/>
          </a:prstGeom>
          <a:solidFill>
            <a:srgbClr val="E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97896" y="2706624"/>
            <a:ext cx="676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7455"/>
                </a:solidFill>
                <a:latin typeface="Arial"/>
              </a:rPr>
              <a:t>Decomp  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95944" y="3227832"/>
            <a:ext cx="2688336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6D"/>
                </a:solidFill>
                <a:latin typeface="Arial"/>
              </a:rPr>
              <a:t>Macro-average EM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69096" y="5202936"/>
            <a:ext cx="2542032" cy="10972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833104" y="4242816"/>
            <a:ext cx="512064" cy="960120"/>
          </a:xfrm>
          <a:prstGeom prst="roundRect">
            <a:avLst/>
          </a:prstGeom>
          <a:solidFill>
            <a:srgbClr val="BAC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14232" y="3931920"/>
            <a:ext cx="74980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Arial"/>
              </a:rPr>
              <a:t>39.3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756648" y="3904487"/>
            <a:ext cx="512064" cy="1298448"/>
          </a:xfrm>
          <a:prstGeom prst="roundRect">
            <a:avLst/>
          </a:prstGeom>
          <a:solidFill>
            <a:srgbClr val="789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37776" y="3593591"/>
            <a:ext cx="74980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Arial"/>
              </a:rPr>
              <a:t>40.9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680192" y="3648455"/>
            <a:ext cx="512064" cy="1554480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61319" y="3337559"/>
            <a:ext cx="749808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37455"/>
                </a:solidFill>
                <a:latin typeface="Arial"/>
              </a:rPr>
              <a:t>41.8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805672" y="5358383"/>
            <a:ext cx="2468880" cy="265176"/>
          </a:xfrm>
          <a:prstGeom prst="roundRect">
            <a:avLst/>
          </a:prstGeom>
          <a:solidFill>
            <a:srgbClr val="E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23960" y="5349240"/>
            <a:ext cx="243230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37455"/>
                </a:solidFill>
                <a:latin typeface="Arial"/>
              </a:rPr>
              <a:t>Path-aware: best EM on 4 / 4 datasets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49808" y="5870448"/>
            <a:ext cx="10661904" cy="466344"/>
          </a:xfrm>
          <a:prstGeom prst="round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6112" y="5870448"/>
            <a:ext cx="10369296" cy="4663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7455"/>
                </a:solidFill>
                <a:latin typeface="Times New Roman"/>
              </a:rPr>
              <a:t>Adaptive retrieval is not only whether to retrieve — it is also how to retrieve for each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