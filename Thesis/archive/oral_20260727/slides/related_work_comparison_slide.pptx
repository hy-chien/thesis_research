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948672" y="0"/>
            <a:ext cx="2240280" cy="530352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40112" y="18288"/>
            <a:ext cx="1993392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9281160" cy="58521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50" b="1" i="0">
                <a:solidFill>
                  <a:srgbClr val="1D4967"/>
                </a:solidFill>
                <a:latin typeface="Times New Roman"/>
              </a:rPr>
              <a:t>SEEK in the Adaptive RAG Design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0753344" cy="10972"/>
          </a:xfrm>
          <a:prstGeom prst="rect">
            <a:avLst/>
          </a:prstGeom>
          <a:solidFill>
            <a:srgbClr val="1D4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0863072" cy="10972"/>
          </a:xfrm>
          <a:prstGeom prst="rect">
            <a:avLst/>
          </a:prstGeom>
          <a:solidFill>
            <a:srgbClr val="1D4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66576" y="5879592"/>
            <a:ext cx="932688" cy="932688"/>
          </a:xfrm>
          <a:prstGeom prst="ellipse">
            <a:avLst/>
          </a:prstGeom>
          <a:solidFill>
            <a:srgbClr val="AEC1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31168" y="6510528"/>
            <a:ext cx="356616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D4967"/>
                </a:solidFill>
                <a:latin typeface="Times New Roman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87552"/>
            <a:ext cx="10972800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 i="1">
                <a:solidFill>
                  <a:srgbClr val="626B70"/>
                </a:solidFill>
                <a:latin typeface="Times New Roman"/>
              </a:rPr>
              <a:t>A concise comparison of where retrieval is decided, what signal it uses, and how interpretable that decision 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26464"/>
            <a:ext cx="10881360" cy="12801"/>
          </a:xfrm>
          <a:prstGeom prst="rect">
            <a:avLst/>
          </a:prstGeom>
          <a:solidFill>
            <a:srgbClr val="5F6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72184"/>
            <a:ext cx="2121408" cy="53035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8191A"/>
                </a:solidFill>
                <a:latin typeface="Times New Roman"/>
              </a:rPr>
              <a:t>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1472184"/>
            <a:ext cx="2322576" cy="53035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8191A"/>
                </a:solidFill>
                <a:latin typeface="Times New Roman"/>
              </a:rPr>
              <a:t>Decision
unit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2664" y="1472184"/>
            <a:ext cx="3218688" cy="53035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8191A"/>
                </a:solidFill>
                <a:latin typeface="Times New Roman"/>
              </a:rPr>
              <a:t>Retrieval
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2792" y="1472184"/>
            <a:ext cx="2852928" cy="53035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8191A"/>
                </a:solidFill>
                <a:latin typeface="Times New Roman"/>
              </a:rPr>
              <a:t>Decision
transparency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048256"/>
            <a:ext cx="10881360" cy="9144"/>
          </a:xfrm>
          <a:prstGeom prst="rect">
            <a:avLst/>
          </a:prstGeom>
          <a:solidFill>
            <a:srgbClr val="5F6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2093976"/>
            <a:ext cx="1883664" cy="6583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191A"/>
                </a:solidFill>
                <a:latin typeface="Times New Roman"/>
              </a:rPr>
              <a:t>Adaptive-RAG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2093976"/>
            <a:ext cx="2304288" cy="6583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43D3D"/>
                </a:solidFill>
                <a:latin typeface="Times New Roman"/>
              </a:rPr>
              <a:t>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7" y="2093976"/>
            <a:ext cx="3200400" cy="6583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8191A"/>
                </a:solidFill>
                <a:latin typeface="Times New Roman"/>
              </a:rPr>
              <a:t>Complexity classifier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1936" y="2093976"/>
            <a:ext cx="2834640" cy="6583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47A00"/>
                </a:solidFill>
                <a:latin typeface="Times New Roman"/>
              </a:rPr>
              <a:t>Medium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98064"/>
            <a:ext cx="10881360" cy="7315"/>
          </a:xfrm>
          <a:prstGeom prst="rect">
            <a:avLst/>
          </a:prstGeom>
          <a:solidFill>
            <a:srgbClr val="5F6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2843784"/>
            <a:ext cx="1883664" cy="6583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191A"/>
                </a:solidFill>
                <a:latin typeface="Times New Roman"/>
              </a:rPr>
              <a:t>FLARE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07792" y="2843784"/>
            <a:ext cx="2304288" cy="6583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C47A00"/>
                </a:solidFill>
                <a:latin typeface="Times New Roman"/>
              </a:rPr>
              <a:t>Token / Sentence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7" y="2843784"/>
            <a:ext cx="3200400" cy="6583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8191A"/>
                </a:solidFill>
                <a:latin typeface="Times New Roman"/>
              </a:rPr>
              <a:t>Token probability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1936" y="2843784"/>
            <a:ext cx="2834640" cy="6583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D8B3D"/>
                </a:solidFill>
                <a:latin typeface="Times New Roman"/>
              </a:rPr>
              <a:t>High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547872"/>
            <a:ext cx="10881360" cy="7315"/>
          </a:xfrm>
          <a:prstGeom prst="rect">
            <a:avLst/>
          </a:prstGeom>
          <a:solidFill>
            <a:srgbClr val="5F6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" y="3593591"/>
            <a:ext cx="1883664" cy="6583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191A"/>
                </a:solidFill>
                <a:latin typeface="Times New Roman"/>
              </a:rPr>
              <a:t>DeepRAG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7792" y="3593591"/>
            <a:ext cx="2304288" cy="6583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D8B3D"/>
                </a:solidFill>
                <a:latin typeface="Times New Roman"/>
              </a:rPr>
              <a:t>Sub-question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1807" y="3593591"/>
            <a:ext cx="3200400" cy="6583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8191A"/>
                </a:solidFill>
                <a:latin typeface="Times New Roman"/>
              </a:rPr>
              <a:t>Learned policy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1936" y="3593591"/>
            <a:ext cx="2834640" cy="6583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43D3D"/>
                </a:solidFill>
                <a:latin typeface="Times New Roman"/>
              </a:rPr>
              <a:t>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297680"/>
            <a:ext cx="10881360" cy="7315"/>
          </a:xfrm>
          <a:prstGeom prst="rect">
            <a:avLst/>
          </a:prstGeom>
          <a:solidFill>
            <a:srgbClr val="5F6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315968"/>
            <a:ext cx="10881360" cy="713231"/>
          </a:xfrm>
          <a:prstGeom prst="rect">
            <a:avLst/>
          </a:prstGeom>
          <a:solidFill>
            <a:srgbClr val="E6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1" y="4343400"/>
            <a:ext cx="1883664" cy="6583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191A"/>
                </a:solidFill>
                <a:latin typeface="Times New Roman"/>
              </a:rPr>
              <a:t>SEEK (Ours)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07792" y="4343400"/>
            <a:ext cx="2304288" cy="6583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D8B3D"/>
                </a:solidFill>
                <a:latin typeface="Times New Roman"/>
              </a:rPr>
              <a:t>Sub-question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21807" y="4343400"/>
            <a:ext cx="3200400" cy="6583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D8B3D"/>
                </a:solidFill>
                <a:latin typeface="Times New Roman"/>
              </a:rPr>
              <a:t>Tail leakage + verifier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31936" y="4343400"/>
            <a:ext cx="2834640" cy="6583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D8B3D"/>
                </a:solidFill>
                <a:latin typeface="Times New Roman"/>
              </a:rPr>
              <a:t>High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047488"/>
            <a:ext cx="10881360" cy="7315"/>
          </a:xfrm>
          <a:prstGeom prst="rect">
            <a:avLst/>
          </a:prstGeom>
          <a:solidFill>
            <a:srgbClr val="5F6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41248" y="5202936"/>
            <a:ext cx="10515600" cy="658368"/>
          </a:xfrm>
          <a:prstGeom prst="roundRect">
            <a:avLst/>
          </a:prstGeom>
          <a:solidFill>
            <a:srgbClr val="DC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5212080"/>
            <a:ext cx="10094976" cy="6217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B54"/>
                </a:solidFill>
                <a:latin typeface="Times New Roman"/>
              </a:rPr>
              <a:t>SEEK is the only method here that combines sub-question decisions with an explicit, interpretable confidence signal.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971032"/>
            <a:ext cx="10351008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626B70"/>
                </a:solidFill>
                <a:latin typeface="Arial"/>
              </a:rPr>
              <a:t>Granularity tells us where the decision happens; transparency tells us whether that decision can be inspected and explained.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