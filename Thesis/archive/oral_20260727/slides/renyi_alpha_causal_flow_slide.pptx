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64B6B"/>
                </a:solidFill>
                <a:latin typeface="Times New Roman"/>
              </a:rPr>
              <a:t>Lower α Reveals Tail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9AAE"/>
                </a:solidFill>
                <a:latin typeface="Times New Roman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2606D"/>
                </a:solidFill>
                <a:latin typeface="Arial"/>
              </a:rPr>
              <a:t>Formula relationship  →  weighting mechanism  →  empirical error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527048"/>
            <a:ext cx="2523744" cy="4389120"/>
          </a:xfrm>
          <a:prstGeom prst="roundRect">
            <a:avLst/>
          </a:prstGeom>
          <a:solidFill>
            <a:srgbClr val="E1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481328"/>
            <a:ext cx="2523744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0B3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1627632"/>
            <a:ext cx="1664207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B3972"/>
                </a:solidFill>
                <a:latin typeface="Arial"/>
              </a:rPr>
              <a:t>DEFINE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1874519"/>
            <a:ext cx="1664207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2606D"/>
                </a:solidFill>
                <a:latin typeface="Arial"/>
              </a:rPr>
              <a:t>Connect Rényi to Shannon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249424"/>
            <a:ext cx="215798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52606D"/>
                </a:solidFill>
                <a:latin typeface="Arial"/>
              </a:rPr>
              <a:t>Rényi entropy family</a:t>
            </a:r>
          </a:p>
        </p:txBody>
      </p:sp>
      <p:pic>
        <p:nvPicPr>
          <p:cNvPr id="18" name="Picture 17" descr="reny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" y="2654935"/>
            <a:ext cx="2197100" cy="4508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481328" y="3337560"/>
            <a:ext cx="694943" cy="365760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3337560"/>
            <a:ext cx="6949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3972"/>
                </a:solidFill>
                <a:latin typeface="Cambria Math"/>
              </a:rPr>
              <a:t>α → 1</a:t>
            </a:r>
          </a:p>
        </p:txBody>
      </p:sp>
      <p:pic>
        <p:nvPicPr>
          <p:cNvPr id="21" name="Picture 20" descr="shann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4" y="4054221"/>
            <a:ext cx="2343150" cy="28575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04672" y="4773168"/>
            <a:ext cx="2048255" cy="502920"/>
          </a:xfrm>
          <a:prstGeom prst="roundRect">
            <a:avLst/>
          </a:prstGeom>
          <a:solidFill>
            <a:srgbClr val="F4F8FC"/>
          </a:solidFill>
          <a:ln w="8890">
            <a:solidFill>
              <a:srgbClr val="B8D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4764024"/>
            <a:ext cx="1901951" cy="521207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972"/>
                </a:solidFill>
                <a:latin typeface="Arial"/>
              </a:rPr>
              <a:t>α → 1 recovers Shannon entropy.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2011679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52606D"/>
                </a:solidFill>
                <a:latin typeface="Arial"/>
              </a:rPr>
              <a:t>One parameter controls which probabilities matter.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182112" y="3355848"/>
            <a:ext cx="274320" cy="347472"/>
          </a:xfrm>
          <a:prstGeom prst="rightArrow">
            <a:avLst/>
          </a:prstGeom>
          <a:solidFill>
            <a:srgbClr val="17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84448" y="1527048"/>
            <a:ext cx="4773168" cy="4389120"/>
          </a:xfrm>
          <a:prstGeom prst="roundRect">
            <a:avLst/>
          </a:prstGeom>
          <a:solidFill>
            <a:srgbClr val="E1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47872" y="1481328"/>
            <a:ext cx="4773168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30752" y="1664208"/>
            <a:ext cx="384048" cy="384048"/>
          </a:xfrm>
          <a:prstGeom prst="ellipse">
            <a:avLst/>
          </a:prstGeom>
          <a:solidFill>
            <a:srgbClr val="0B3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1627632"/>
            <a:ext cx="3913631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B3972"/>
                </a:solidFill>
                <a:latin typeface="Arial"/>
              </a:rPr>
              <a:t>REWEIGHT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1874519"/>
            <a:ext cx="3913631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2606D"/>
                </a:solidFill>
                <a:latin typeface="Arial"/>
              </a:rPr>
              <a:t>See what α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194560"/>
            <a:ext cx="4334256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0B3972"/>
                </a:solidFill>
                <a:latin typeface="Arial"/>
              </a:rPr>
              <a:t>Same probabilities, different emphasis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7328" y="2487168"/>
            <a:ext cx="4334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606D"/>
                </a:solidFill>
                <a:latin typeface="Cambria Math"/>
              </a:rPr>
              <a:t>Effective weight  ∝  p(v)^α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58184" y="2834640"/>
            <a:ext cx="1325880" cy="2267712"/>
          </a:xfrm>
          <a:prstGeom prst="roundRect">
            <a:avLst/>
          </a:prstGeom>
          <a:solidFill>
            <a:srgbClr val="F7F9FA"/>
          </a:solidFill>
          <a:ln w="8255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3048" y="2953512"/>
            <a:ext cx="12161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3972"/>
                </a:solidFill>
                <a:latin typeface="Arial"/>
              </a:rPr>
              <a:t>α =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3200400"/>
            <a:ext cx="125272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2606D"/>
                </a:solidFill>
                <a:latin typeface="Arial"/>
              </a:rPr>
              <a:t>HEAD-SENSITIVE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95344" y="4645152"/>
            <a:ext cx="1051560" cy="7315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13632" y="3511676"/>
            <a:ext cx="50292" cy="1133475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86784" y="4157004"/>
            <a:ext cx="50292" cy="488147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9936" y="4428197"/>
            <a:ext cx="50292" cy="216954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33088" y="4555492"/>
            <a:ext cx="50292" cy="89659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6240" y="4590913"/>
            <a:ext cx="50292" cy="54238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25112" y="4617479"/>
            <a:ext cx="50292" cy="27672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98264" y="4631592"/>
            <a:ext cx="50292" cy="13559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71416" y="4637082"/>
            <a:ext cx="50292" cy="8069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44568" y="4640270"/>
            <a:ext cx="50292" cy="4881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17720" y="4641953"/>
            <a:ext cx="50292" cy="3198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90872" y="4643558"/>
            <a:ext cx="50292" cy="1593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64024" y="4644443"/>
            <a:ext cx="50292" cy="708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67912" y="4736592"/>
            <a:ext cx="530352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97812"/>
                </a:solidFill>
                <a:latin typeface="Arial"/>
              </a:rPr>
              <a:t>head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17136" y="4736592"/>
            <a:ext cx="438912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D75B3"/>
                </a:solidFill>
                <a:latin typeface="Arial"/>
              </a:rPr>
              <a:t>tail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2834640"/>
            <a:ext cx="1325880" cy="2267712"/>
          </a:xfrm>
          <a:prstGeom prst="roundRect">
            <a:avLst/>
          </a:prstGeom>
          <a:solidFill>
            <a:srgbClr val="F7F9FA"/>
          </a:solidFill>
          <a:ln w="8255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58383" y="2953512"/>
            <a:ext cx="12161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3972"/>
                </a:solidFill>
                <a:latin typeface="Arial"/>
              </a:rPr>
              <a:t>α →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0096" y="3200400"/>
            <a:ext cx="125272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2606D"/>
                </a:solidFill>
                <a:latin typeface="Arial"/>
              </a:rPr>
              <a:t>SHANNON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4645152"/>
            <a:ext cx="1051560" cy="7315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58968" y="3991660"/>
            <a:ext cx="50292" cy="653491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32120" y="4216298"/>
            <a:ext cx="50292" cy="428853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05272" y="4359249"/>
            <a:ext cx="50292" cy="285902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78424" y="4461357"/>
            <a:ext cx="50292" cy="183794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51576" y="4502200"/>
            <a:ext cx="50292" cy="142951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70448" y="4543044"/>
            <a:ext cx="50292" cy="102108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4573676"/>
            <a:ext cx="50292" cy="71475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6752" y="4590013"/>
            <a:ext cx="50292" cy="55138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89904" y="4602266"/>
            <a:ext cx="50292" cy="42885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63056" y="4610435"/>
            <a:ext cx="50292" cy="34716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36208" y="4620646"/>
            <a:ext cx="50292" cy="24505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09360" y="4628814"/>
            <a:ext cx="50292" cy="16337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13248" y="4736592"/>
            <a:ext cx="530352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97812"/>
                </a:solidFill>
                <a:latin typeface="Arial"/>
              </a:rPr>
              <a:t>head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62472" y="4736592"/>
            <a:ext cx="438912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D75B3"/>
                </a:solidFill>
                <a:latin typeface="Arial"/>
              </a:rPr>
              <a:t>tail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48856" y="2834640"/>
            <a:ext cx="1325880" cy="2267712"/>
          </a:xfrm>
          <a:prstGeom prst="roundRect">
            <a:avLst/>
          </a:prstGeom>
          <a:solidFill>
            <a:srgbClr val="E5F4EE"/>
          </a:solidFill>
          <a:ln w="8255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03720" y="2953512"/>
            <a:ext cx="12161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3972"/>
                </a:solidFill>
                <a:latin typeface="Arial"/>
              </a:rPr>
              <a:t>α = 0.5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85432" y="3200400"/>
            <a:ext cx="125272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137455"/>
                </a:solidFill>
                <a:latin typeface="Arial"/>
              </a:rPr>
              <a:t>TAIL-SENSITIVE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86016" y="4645152"/>
            <a:ext cx="1051560" cy="7315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004304" y="4261609"/>
            <a:ext cx="50292" cy="383542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77456" y="4334447"/>
            <a:ext cx="50292" cy="310704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150608" y="4391462"/>
            <a:ext cx="50292" cy="253689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23760" y="4441747"/>
            <a:ext cx="50292" cy="203404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96912" y="4465766"/>
            <a:ext cx="50292" cy="179385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15784" y="4493543"/>
            <a:ext cx="50292" cy="151608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488936" y="4518307"/>
            <a:ext cx="50292" cy="126844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62088" y="4533743"/>
            <a:ext cx="50292" cy="111408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35240" y="4546898"/>
            <a:ext cx="50292" cy="98253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08392" y="4556749"/>
            <a:ext cx="50292" cy="88402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81544" y="4570879"/>
            <a:ext cx="50292" cy="74272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54696" y="4584508"/>
            <a:ext cx="50292" cy="60643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58584" y="4736592"/>
            <a:ext cx="530352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97812"/>
                </a:solidFill>
                <a:latin typeface="Arial"/>
              </a:rPr>
              <a:t>head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07808" y="4736592"/>
            <a:ext cx="438912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D75B3"/>
                </a:solidFill>
                <a:latin typeface="Arial"/>
              </a:rPr>
              <a:t>tail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050791" y="5330952"/>
            <a:ext cx="3767327" cy="402336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096511" y="5321808"/>
            <a:ext cx="3675887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3972"/>
                </a:solidFill>
                <a:latin typeface="Arial"/>
              </a:rPr>
              <a:t>Lower α   →   stronger tail influence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8412480" y="3355848"/>
            <a:ext cx="274320" cy="347472"/>
          </a:xfrm>
          <a:prstGeom prst="rightArrow">
            <a:avLst/>
          </a:prstGeom>
          <a:solidFill>
            <a:srgbClr val="17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814815" y="1527048"/>
            <a:ext cx="2834640" cy="4389120"/>
          </a:xfrm>
          <a:prstGeom prst="roundRect">
            <a:avLst/>
          </a:prstGeom>
          <a:solidFill>
            <a:srgbClr val="E1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778240" y="1481328"/>
            <a:ext cx="283464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961119" y="1664208"/>
            <a:ext cx="384048" cy="384048"/>
          </a:xfrm>
          <a:prstGeom prst="ellipse">
            <a:avLst/>
          </a:prstGeom>
          <a:solidFill>
            <a:srgbClr val="0B3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61119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54896" y="1627632"/>
            <a:ext cx="19751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B3972"/>
                </a:solidFill>
                <a:latin typeface="Arial"/>
              </a:rPr>
              <a:t>DETECT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54896" y="1874519"/>
            <a:ext cx="1975104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2606D"/>
                </a:solidFill>
                <a:latin typeface="Arial"/>
              </a:rPr>
              <a:t>Measure the empirical effect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42832" y="2212848"/>
            <a:ext cx="250545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0B3972"/>
                </a:solidFill>
                <a:latin typeface="Arial"/>
              </a:rPr>
              <a:t>2Wiki error-detection AUROC ↑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701784" y="2560320"/>
            <a:ext cx="987552" cy="384048"/>
          </a:xfrm>
          <a:prstGeom prst="roundRect">
            <a:avLst/>
          </a:prstGeom>
          <a:solidFill>
            <a:srgbClr val="E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701784" y="2560320"/>
            <a:ext cx="9875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37455"/>
                </a:solidFill>
                <a:latin typeface="Arial"/>
              </a:rPr>
              <a:t>+0.065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89136" y="4892040"/>
            <a:ext cx="2212848" cy="10972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14815" y="4782312"/>
            <a:ext cx="32004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2606D"/>
                </a:solidFill>
                <a:latin typeface="Arial"/>
              </a:rPr>
              <a:t>0.50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272016" y="3691393"/>
            <a:ext cx="457200" cy="1200646"/>
          </a:xfrm>
          <a:prstGeom prst="roundRect">
            <a:avLst/>
          </a:prstGeom>
          <a:solidFill>
            <a:srgbClr val="BAC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62288" y="3371353"/>
            <a:ext cx="67665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0.651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25712" y="5010912"/>
            <a:ext cx="74980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B3972"/>
                </a:solidFill>
                <a:latin typeface="Arial"/>
              </a:rPr>
              <a:t>α = 2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03536" y="3532366"/>
            <a:ext cx="457200" cy="1359673"/>
          </a:xfrm>
          <a:prstGeom prst="roundRect">
            <a:avLst/>
          </a:prstGeom>
          <a:solidFill>
            <a:srgbClr val="789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893808" y="3212326"/>
            <a:ext cx="67665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0.671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57232" y="5010912"/>
            <a:ext cx="74980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B3972"/>
                </a:solidFill>
                <a:latin typeface="Arial"/>
              </a:rPr>
              <a:t>α → 1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735056" y="3174558"/>
            <a:ext cx="457200" cy="1717481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625328" y="2854518"/>
            <a:ext cx="67665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0.716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88752" y="5010912"/>
            <a:ext cx="74980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B3972"/>
                </a:solidFill>
                <a:latin typeface="Arial"/>
              </a:rPr>
              <a:t>α = 0.5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97696" y="5422392"/>
            <a:ext cx="239572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7455"/>
                </a:solidFill>
                <a:latin typeface="Arial"/>
              </a:rPr>
              <a:t>Tail-sensitive α = 0.5 performs best.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41248" y="6035040"/>
            <a:ext cx="10515600" cy="384048"/>
          </a:xfrm>
          <a:prstGeom prst="round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69264" y="6025896"/>
            <a:ext cx="10259568" cy="4023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 i="0">
                <a:solidFill>
                  <a:srgbClr val="137455"/>
                </a:solidFill>
                <a:latin typeface="Times New Roman"/>
              </a:rPr>
              <a:t>As α decreases, tail influence and error-detection AUROC both increase.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