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762326"/>
                </a:solidFill>
                <a:latin typeface="Times New Roman"/>
              </a:rPr>
              <a:t>Lower Rényi α Improves Error Separation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626B70"/>
                </a:solidFill>
                <a:latin typeface="Times New Roman"/>
              </a:rPr>
              <a:t>same model and data  ·  only α changes  ·  lower α gives low-probability tokens more influence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417320"/>
            <a:ext cx="10881360" cy="4425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1664208"/>
            <a:ext cx="3767328" cy="283464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645920"/>
            <a:ext cx="373075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B70"/>
                </a:solidFill>
                <a:latin typeface="Arial"/>
              </a:rPr>
              <a:t>Rényi entropy: α controls head-vs.-tail emphasis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682496"/>
            <a:ext cx="316382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626B70"/>
                </a:solidFill>
                <a:latin typeface="Arial"/>
              </a:rPr>
              <a:t>2Wiki  ·  AUROC for predicting error 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4754880"/>
            <a:ext cx="10085832" cy="12801"/>
          </a:xfrm>
          <a:prstGeom prst="rect">
            <a:avLst/>
          </a:prstGeom>
          <a:solidFill>
            <a:srgbClr val="CE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517136"/>
            <a:ext cx="132588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0"/>
                </a:solidFill>
                <a:latin typeface="Arial"/>
              </a:rPr>
              <a:t>chance = 0.50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83664" y="3197400"/>
            <a:ext cx="1298448" cy="1557479"/>
          </a:xfrm>
          <a:prstGeom prst="roundRect">
            <a:avLst/>
          </a:prstGeom>
          <a:solidFill>
            <a:srgbClr val="BAC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92224" y="2804208"/>
            <a:ext cx="1481328" cy="3383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191A"/>
                </a:solidFill>
                <a:latin typeface="Arial"/>
              </a:rPr>
              <a:t>0.651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882896"/>
            <a:ext cx="1536192" cy="3017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91A"/>
                </a:solidFill>
                <a:latin typeface="Arial"/>
              </a:rPr>
              <a:t>α 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3624" y="5248656"/>
            <a:ext cx="1938528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26B70"/>
                </a:solidFill>
                <a:latin typeface="Arial"/>
              </a:rPr>
              <a:t>p² suppresses small 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2991112"/>
            <a:ext cx="1298448" cy="1763767"/>
          </a:xfrm>
          <a:prstGeom prst="roundRect">
            <a:avLst/>
          </a:prstGeom>
          <a:solidFill>
            <a:srgbClr val="789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597920"/>
            <a:ext cx="1481328" cy="3383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191A"/>
                </a:solidFill>
                <a:latin typeface="Arial"/>
              </a:rPr>
              <a:t>0.671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882896"/>
            <a:ext cx="1536192" cy="3017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91A"/>
                </a:solidFill>
                <a:latin typeface="Arial"/>
              </a:rPr>
              <a:t>α →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248656"/>
            <a:ext cx="1938528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626B70"/>
                </a:solidFill>
                <a:latin typeface="Arial"/>
              </a:rPr>
              <a:t>Shannon limit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08975" y="2526962"/>
            <a:ext cx="1298448" cy="2227917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2133770"/>
            <a:ext cx="1481328" cy="3383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191A"/>
                </a:solidFill>
                <a:latin typeface="Arial"/>
              </a:rPr>
              <a:t>0.716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3" y="4882896"/>
            <a:ext cx="1536192" cy="3017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91A"/>
                </a:solidFill>
                <a:latin typeface="Arial"/>
              </a:rPr>
              <a:t>α = 0.5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248656"/>
            <a:ext cx="1938528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37455"/>
                </a:solidFill>
                <a:latin typeface="Arial"/>
              </a:rPr>
              <a:t>√p magnifies small 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989320"/>
            <a:ext cx="10515600" cy="384048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980176"/>
            <a:ext cx="10168128" cy="4023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37455"/>
                </a:solidFill>
                <a:latin typeface="Times New Roman"/>
              </a:rPr>
              <a:t>Takeaway: lower α makes rare-token evidence count more—and separates errors more effectively.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