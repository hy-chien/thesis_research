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BF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762326"/>
                </a:solidFill>
                <a:latin typeface="Times New Roman"/>
              </a:rPr>
              <a:t>Why Top-5? Deterministic, Not Random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E5C"/>
                </a:solidFill>
                <a:latin typeface="Times New Roman"/>
              </a:rPr>
              <a:t>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1">
                <a:solidFill>
                  <a:srgbClr val="626B70"/>
                </a:solidFill>
                <a:latin typeface="Times New Roman"/>
              </a:rPr>
              <a:t>At each decoding step, rank the full-vocabulary softmax probabilities.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6793992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79792" y="1417320"/>
            <a:ext cx="420624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609344"/>
            <a:ext cx="3063240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What happens at token 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1664208"/>
            <a:ext cx="177393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37455"/>
                </a:solidFill>
                <a:latin typeface="Arial"/>
              </a:rPr>
              <a:t>deterministic at every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066543"/>
            <a:ext cx="1417320" cy="640080"/>
          </a:xfrm>
          <a:prstGeom prst="roundRect">
            <a:avLst/>
          </a:prstGeom>
          <a:solidFill>
            <a:srgbClr val="EEF2F4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130552"/>
            <a:ext cx="1271016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8191A"/>
                </a:solidFill>
                <a:latin typeface="Arial"/>
              </a:rPr>
              <a:t>logits at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423160"/>
            <a:ext cx="1307592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one score /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066543"/>
            <a:ext cx="1417320" cy="640080"/>
          </a:xfrm>
          <a:prstGeom prst="roundRect">
            <a:avLst/>
          </a:prstGeom>
          <a:solidFill>
            <a:srgbClr val="EEF2F4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6352" y="2130552"/>
            <a:ext cx="1271016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8191A"/>
                </a:solidFill>
                <a:latin typeface="Arial"/>
              </a:rPr>
              <a:t>softmax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98064" y="2423160"/>
            <a:ext cx="1307592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p_t(v) over |V|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2066543"/>
            <a:ext cx="1417320" cy="640080"/>
          </a:xfrm>
          <a:prstGeom prst="roundRect">
            <a:avLst/>
          </a:prstGeom>
          <a:solidFill>
            <a:srgbClr val="EEF2F4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8304" y="2130552"/>
            <a:ext cx="1271016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8191A"/>
                </a:solidFill>
                <a:latin typeface="Arial"/>
              </a:rPr>
              <a:t>sort 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16" y="2423160"/>
            <a:ext cx="1307592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largest to smallest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194560"/>
            <a:ext cx="320040" cy="32004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62326"/>
                </a:solidFill>
                <a:latin typeface="Times New Roman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3672" y="2194560"/>
            <a:ext cx="320040" cy="32004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62326"/>
                </a:solidFill>
                <a:latin typeface="Times New Roman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2862072"/>
            <a:ext cx="25786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26B70"/>
                </a:solidFill>
                <a:latin typeface="Arial"/>
              </a:rPr>
              <a:t>Illustrative ranked distribution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182112"/>
            <a:ext cx="2515514" cy="384048"/>
          </a:xfrm>
          <a:prstGeom prst="rect">
            <a:avLst/>
          </a:prstGeom>
          <a:solidFill>
            <a:srgbClr val="1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218688"/>
            <a:ext cx="2515514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4194" y="3182112"/>
            <a:ext cx="1617116" cy="384048"/>
          </a:xfrm>
          <a:prstGeom prst="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4194" y="3218688"/>
            <a:ext cx="1617116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1310" y="3182112"/>
            <a:ext cx="718718" cy="384048"/>
          </a:xfrm>
          <a:prstGeom prst="rect">
            <a:avLst/>
          </a:prstGeom>
          <a:solidFill>
            <a:srgbClr val="5FB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1310" y="3218688"/>
            <a:ext cx="718718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20029" y="3182112"/>
            <a:ext cx="479145" cy="384048"/>
          </a:xfrm>
          <a:prstGeom prst="rect">
            <a:avLst/>
          </a:prstGeom>
          <a:solidFill>
            <a:srgbClr val="8DC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20029" y="3218688"/>
            <a:ext cx="479145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191A"/>
                </a:solidFill>
                <a:latin typeface="Arial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174" y="3182112"/>
            <a:ext cx="299466" cy="384048"/>
          </a:xfrm>
          <a:prstGeom prst="rect">
            <a:avLst/>
          </a:prstGeom>
          <a:solidFill>
            <a:srgbClr val="B7DD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8640" y="3182112"/>
            <a:ext cx="359359" cy="384048"/>
          </a:xfrm>
          <a:prstGeom prst="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8640" y="3218688"/>
            <a:ext cx="359359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191A"/>
                </a:solidFill>
                <a:latin typeface="Arial"/>
              </a:rPr>
              <a:t>6…|V|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3602736"/>
            <a:ext cx="4956048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37455"/>
                </a:solidFill>
                <a:latin typeface="Arial"/>
              </a:rPr>
              <a:t>TOP-5 candidate set A_t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3602736"/>
            <a:ext cx="612648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C65B42"/>
                </a:solidFill>
                <a:latin typeface="Arial"/>
              </a:rPr>
              <a:t>TAIL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" y="3968496"/>
            <a:ext cx="6117336" cy="566928"/>
          </a:xfrm>
          <a:prstGeom prst="round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4023360"/>
            <a:ext cx="2542032" cy="3566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191A"/>
                </a:solidFill>
                <a:latin typeface="Cambria Math"/>
              </a:rPr>
              <a:t>mₜ = ∑ᵢ₌₁⁵ p₍ᵢ₎⁽ᵗ⁾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200" y="4023360"/>
            <a:ext cx="2788920" cy="3566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191A"/>
                </a:solidFill>
                <a:latin typeface="Cambria Math"/>
              </a:rPr>
              <a:t>tail mass = 1 − mₜ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" y="4700016"/>
            <a:ext cx="6117336" cy="347472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4681728"/>
            <a:ext cx="5916168" cy="38404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37455"/>
                </a:solidFill>
                <a:latin typeface="Arial"/>
              </a:rPr>
              <a:t>No sampling: A_t is always the five largest probabilities under p_t.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" y="5166360"/>
            <a:ext cx="6117336" cy="329184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" y="5148072"/>
            <a:ext cx="5916168" cy="36576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65B42"/>
                </a:solidFill>
                <a:latin typeface="Arial"/>
              </a:rPr>
              <a:t>Tail means ranks 6…|V|—not the bottom five tokens.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4968" y="1609344"/>
            <a:ext cx="2496312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Why choose k = 5?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54112" y="1965960"/>
            <a:ext cx="3593592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626B70"/>
                </a:solidFill>
                <a:latin typeface="Arial"/>
              </a:rPr>
              <a:t>tl_sum@k = Σ_t −log m_{k,t} · macro AUROC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2450592"/>
            <a:ext cx="758952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8191A"/>
                </a:solidFill>
                <a:latin typeface="Arial"/>
              </a:rPr>
              <a:t>k = 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32520" y="2487168"/>
            <a:ext cx="2002536" cy="283464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732520" y="2487168"/>
            <a:ext cx="1415125" cy="283464"/>
          </a:xfrm>
          <a:prstGeom prst="roundRect">
            <a:avLst/>
          </a:prstGeom>
          <a:solidFill>
            <a:srgbClr val="AE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99064" y="2450592"/>
            <a:ext cx="5669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191A"/>
                </a:solidFill>
                <a:latin typeface="Arial"/>
              </a:rPr>
              <a:t>0.7412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3145536"/>
            <a:ext cx="758952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8191A"/>
                </a:solidFill>
                <a:latin typeface="Arial"/>
              </a:rPr>
              <a:t>k = 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32520" y="3182112"/>
            <a:ext cx="2002536" cy="283464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732520" y="3182112"/>
            <a:ext cx="1955810" cy="283464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99064" y="3145536"/>
            <a:ext cx="5669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191A"/>
                </a:solidFill>
                <a:latin typeface="Arial"/>
              </a:rPr>
              <a:t>0.7493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3840480"/>
            <a:ext cx="758952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8191A"/>
                </a:solidFill>
                <a:latin typeface="Arial"/>
              </a:rPr>
              <a:t>k = 10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32520" y="3877056"/>
            <a:ext cx="2002536" cy="283464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732520" y="3877056"/>
            <a:ext cx="1989185" cy="283464"/>
          </a:xfrm>
          <a:prstGeom prst="roundRect">
            <a:avLst/>
          </a:prstGeom>
          <a:solidFill>
            <a:srgbClr val="3E6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799064" y="3840480"/>
            <a:ext cx="5669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191A"/>
                </a:solidFill>
                <a:latin typeface="Arial"/>
              </a:rPr>
              <a:t>0.7498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54112" y="4379976"/>
            <a:ext cx="3611880" cy="283464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63256" y="4361688"/>
            <a:ext cx="3593592" cy="32004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137455"/>
                </a:solidFill>
                <a:latin typeface="Arial"/>
              </a:rPr>
              <a:t>k=5 ≈ k=10 (p=.824); k=2 is lower (p=.022)</a:t>
            </a:r>
          </a:p>
        </p:txBody>
      </p:sp>
      <p:sp>
        <p:nvSpPr>
          <p:cNvPr id="63" name="Oval 62"/>
          <p:cNvSpPr/>
          <p:nvPr/>
        </p:nvSpPr>
        <p:spPr>
          <a:xfrm>
            <a:off x="7808975" y="4818888"/>
            <a:ext cx="118872" cy="118872"/>
          </a:xfrm>
          <a:prstGeom prst="ellipse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10144" y="4745736"/>
            <a:ext cx="3319272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91A"/>
                </a:solidFill>
                <a:latin typeface="Arial"/>
              </a:rPr>
              <a:t>Allows several casing, alias, and subword variants.</a:t>
            </a:r>
          </a:p>
        </p:txBody>
      </p:sp>
      <p:sp>
        <p:nvSpPr>
          <p:cNvPr id="65" name="Oval 64"/>
          <p:cNvSpPr/>
          <p:nvPr/>
        </p:nvSpPr>
        <p:spPr>
          <a:xfrm>
            <a:off x="7808975" y="5138928"/>
            <a:ext cx="118872" cy="118872"/>
          </a:xfrm>
          <a:prstGeom prst="ellipse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10144" y="5065776"/>
            <a:ext cx="3319272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91A"/>
                </a:solidFill>
                <a:latin typeface="Arial"/>
              </a:rPr>
              <a:t>Still keeps the candidate set narrow.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54112" y="5413248"/>
            <a:ext cx="3602736" cy="1920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1">
                <a:solidFill>
                  <a:srgbClr val="626B70"/>
                </a:solidFill>
                <a:latin typeface="Arial"/>
              </a:rPr>
              <a:t>Post-hoc sensitivity on the same frozen 4×1,000 direct traces.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8368" y="5888736"/>
            <a:ext cx="10808208" cy="457200"/>
          </a:xfrm>
          <a:prstGeom prst="roundRect">
            <a:avLst/>
          </a:prstGeom>
          <a:solidFill>
            <a:srgbClr val="D4E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8" y="5897880"/>
            <a:ext cx="10424160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137455"/>
                </a:solidFill>
                <a:latin typeface="Times New Roman"/>
              </a:rPr>
              <a:t>Takeaway: top-5 is deterministic; k=5 is a validated but model- and tokenizer-dependent hyperparameter.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BF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762326"/>
                </a:solidFill>
                <a:latin typeface="Times New Roman"/>
              </a:rPr>
              <a:t>Entropy Decomposition: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E5C"/>
                </a:solidFill>
                <a:latin typeface="Times New Roman"/>
              </a:rPr>
              <a:t>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1">
                <a:solidFill>
                  <a:srgbClr val="626B70"/>
                </a:solidFill>
                <a:latin typeface="Times New Roman"/>
              </a:rPr>
              <a:t>Split the vocabulary into the top-5 set A and the tail B; drop token index t for readability.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0744"/>
            <a:ext cx="11183112" cy="868680"/>
          </a:xfrm>
          <a:prstGeom prst="roundRect">
            <a:avLst/>
          </a:prstGeom>
          <a:solidFill>
            <a:srgbClr val="EEF2F4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536192"/>
            <a:ext cx="2432304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191A"/>
                </a:solidFill>
                <a:latin typeface="Cambria Math"/>
              </a:rPr>
              <a:t>A = V₅(p),   B = V \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536192"/>
            <a:ext cx="2331720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191A"/>
                </a:solidFill>
                <a:latin typeface="Cambria Math"/>
              </a:rPr>
              <a:t>m = ∑ᵥ∈A p(v)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536192"/>
            <a:ext cx="2432304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8191A"/>
                </a:solidFill>
                <a:latin typeface="Cambria Math"/>
              </a:rPr>
              <a:t>p_top(v) = p(v)/m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536192"/>
            <a:ext cx="2834640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8191A"/>
                </a:solidFill>
                <a:latin typeface="Cambria Math"/>
              </a:rPr>
              <a:t>p_tail(v) = p(v)/(1−m)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874519"/>
            <a:ext cx="1252728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for v in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0304" y="1874519"/>
            <a:ext cx="1234440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for v in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450592"/>
            <a:ext cx="7333488" cy="3264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2450592"/>
            <a:ext cx="3639312" cy="3264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15184"/>
            <a:ext cx="25146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8191A"/>
                </a:solidFill>
                <a:latin typeface="Times New Roman"/>
              </a:rPr>
              <a:t>Algebraic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679192"/>
            <a:ext cx="2148840" cy="1920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137455"/>
                </a:solidFill>
                <a:latin typeface="Arial"/>
              </a:rPr>
              <a:t>exact—not an approximation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" y="3044952"/>
            <a:ext cx="256032" cy="256032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031236"/>
            <a:ext cx="25603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2990088"/>
            <a:ext cx="6245352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8191A"/>
                </a:solidFill>
                <a:latin typeface="Cambria Math"/>
              </a:rPr>
              <a:t>H(p) = −∑ᵥ∈A p(v) log p(v)  −  ∑ᵥ∈B p(v) log p(v)</a:t>
            </a:r>
          </a:p>
        </p:txBody>
      </p:sp>
      <p:sp>
        <p:nvSpPr>
          <p:cNvPr id="25" name="Oval 24"/>
          <p:cNvSpPr/>
          <p:nvPr/>
        </p:nvSpPr>
        <p:spPr>
          <a:xfrm>
            <a:off x="786384" y="3566160"/>
            <a:ext cx="256032" cy="256032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3552444"/>
            <a:ext cx="25603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511296"/>
            <a:ext cx="6245352" cy="6309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 i="0">
                <a:solidFill>
                  <a:srgbClr val="18191A"/>
                </a:solidFill>
                <a:latin typeface="Cambria Math"/>
              </a:rPr>
              <a:t>= −∑ᵥ∈A m p_top(v) log[m p_top(v)]
  −∑ᵥ∈B (1−m) p_tail(v) log[(1−m) p_tail(v)]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" y="4297679"/>
            <a:ext cx="256032" cy="256032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3964"/>
            <a:ext cx="25603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242816"/>
            <a:ext cx="6245352" cy="61264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Cambria Math"/>
              </a:rPr>
              <a:t>= −m log m − (1−m) log(1−m)
  + m H(p_top) + (1−m) H(p_tail)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" y="5010912"/>
            <a:ext cx="6656832" cy="457200"/>
          </a:xfrm>
          <a:prstGeom prst="roundRect">
            <a:avLst/>
          </a:prstGeom>
          <a:solidFill>
            <a:srgbClr val="DCEFE7"/>
          </a:solidFill>
          <a:ln w="10160">
            <a:solidFill>
              <a:srgbClr val="1E9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5029200"/>
            <a:ext cx="6364224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37455"/>
                </a:solidFill>
                <a:latin typeface="Cambria Math"/>
              </a:rPr>
              <a:t>H(p) = H_B(m) + m H(p_top) + (1−m) H(p_tail)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2596896"/>
            <a:ext cx="3108960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8191A"/>
                </a:solidFill>
                <a:latin typeface="Times New Roman"/>
              </a:rPr>
              <a:t>Empirical probes (conditional; approximate)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2852928"/>
            <a:ext cx="3108960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26B70"/>
                </a:solidFill>
                <a:latin typeface="Arial"/>
              </a:rPr>
              <a:t>The exact identity weights the last two by m and 1−m.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02752" y="3054096"/>
            <a:ext cx="3108960" cy="548640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4" y="3108960"/>
            <a:ext cx="17922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0" b="1" i="0">
                <a:solidFill>
                  <a:srgbClr val="18191A"/>
                </a:solidFill>
                <a:latin typeface="Cambria Math"/>
              </a:rPr>
              <a:t>H_B(m)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3364991"/>
            <a:ext cx="2240280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top-5 vs. tail membership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44200" y="3182112"/>
            <a:ext cx="539496" cy="256032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53344" y="3163824"/>
            <a:ext cx="521207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Arial"/>
              </a:rPr>
              <a:t>0.742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02752" y="3730752"/>
            <a:ext cx="3108960" cy="548640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21624" y="3785615"/>
            <a:ext cx="17922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0" b="1" i="0">
                <a:solidFill>
                  <a:srgbClr val="18191A"/>
                </a:solidFill>
                <a:latin typeface="Cambria Math"/>
              </a:rPr>
              <a:t>H(p_top)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1624" y="4041648"/>
            <a:ext cx="2240280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competition inside top-5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44200" y="3858768"/>
            <a:ext cx="539496" cy="256032"/>
          </a:xfrm>
          <a:prstGeom prst="roundRect">
            <a:avLst/>
          </a:prstGeom>
          <a:solidFill>
            <a:srgbClr val="3E6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53344" y="3840480"/>
            <a:ext cx="521207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Arial"/>
              </a:rPr>
              <a:t>0.712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02752" y="4407408"/>
            <a:ext cx="3108960" cy="548640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21624" y="4462272"/>
            <a:ext cx="17922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0" b="1" i="0">
                <a:solidFill>
                  <a:srgbClr val="18191A"/>
                </a:solidFill>
                <a:latin typeface="Cambria Math"/>
              </a:rPr>
              <a:t>H(p_tail)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4718304"/>
            <a:ext cx="2240280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composition inside the tail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44200" y="4535424"/>
            <a:ext cx="539496" cy="256032"/>
          </a:xfrm>
          <a:prstGeom prst="round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53344" y="4517136"/>
            <a:ext cx="521207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Arial"/>
              </a:rPr>
              <a:t>0.502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02752" y="5065776"/>
            <a:ext cx="3108960" cy="219456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11896" y="5047488"/>
            <a:ext cx="309067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C65B42"/>
                </a:solidFill>
                <a:latin typeface="Arial"/>
              </a:rPr>
              <a:t>Algebraic decomposition ends here.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02752" y="5340096"/>
            <a:ext cx="3108960" cy="265176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1896" y="5321808"/>
            <a:ext cx="3090672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137455"/>
                </a:solidFill>
                <a:latin typeface="Cambria Math"/>
              </a:rPr>
              <a:t>Design: TLₜ = −log mₜ;  tl_sum = ∑ₜ TLₜ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5888736"/>
            <a:ext cx="10808208" cy="457200"/>
          </a:xfrm>
          <a:prstGeom prst="roundRect">
            <a:avLst/>
          </a:prstGeom>
          <a:solidFill>
            <a:srgbClr val="D4E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" y="5897880"/>
            <a:ext cx="10424160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137455"/>
                </a:solidFill>
                <a:latin typeface="Times New Roman"/>
              </a:rPr>
              <a:t>Takeaway: decomposition locates the escape signal; surprisal is a motivated scoring choice, not an equality.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