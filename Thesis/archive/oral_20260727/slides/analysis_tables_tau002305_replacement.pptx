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B3972"/>
                </a:solidFill>
                <a:latin typeface="Times New Roman"/>
              </a:rPr>
              <a:t>Correct Answer Distribution Across Two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05840"/>
            <a:ext cx="1092708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1">
                <a:solidFill>
                  <a:srgbClr val="52606D"/>
                </a:solidFill>
                <a:latin typeface="Arial"/>
              </a:rPr>
              <a:t>Thesis-formatted result  ·  accuracy-first tail-leakage gate  τ = 0.002305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62456"/>
            <a:ext cx="11018520" cy="43708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1389888" cy="24688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1316736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3B54"/>
                </a:solidFill>
                <a:latin typeface="Arial"/>
              </a:rPr>
              <a:t>Thesis Table 5.8</a:t>
            </a:r>
          </a:p>
        </p:txBody>
      </p:sp>
      <p:pic>
        <p:nvPicPr>
          <p:cNvPr id="14" name="Picture 13" descr="thesis_table_5_8_tau002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99" y="1682496"/>
            <a:ext cx="7672776" cy="3794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870448"/>
            <a:ext cx="10716768" cy="41148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5961888"/>
            <a:ext cx="210312" cy="210312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870448"/>
            <a:ext cx="9930384" cy="4114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3B54"/>
                </a:solidFill>
                <a:latin typeface="Arial"/>
              </a:rPr>
              <a:t>Decomposition-only wins exceed direct-only wins on every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B3972"/>
                </a:solidFill>
                <a:latin typeface="Times New Roman"/>
              </a:rPr>
              <a:t>Verifier Path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05840"/>
            <a:ext cx="1092708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1">
                <a:solidFill>
                  <a:srgbClr val="52606D"/>
                </a:solidFill>
                <a:latin typeface="Arial"/>
              </a:rPr>
              <a:t>Thesis-formatted result  ·  accuracy-first tail-leakage gate  τ = 0.002305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62456"/>
            <a:ext cx="11018520" cy="43708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1389888" cy="24688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1316736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3B54"/>
                </a:solidFill>
                <a:latin typeface="Arial"/>
              </a:rPr>
              <a:t>Thesis Table 5.7</a:t>
            </a:r>
          </a:p>
        </p:txBody>
      </p:sp>
      <p:pic>
        <p:nvPicPr>
          <p:cNvPr id="14" name="Picture 13" descr="thesis_table_5_7_tau002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08" y="1682496"/>
            <a:ext cx="7114159" cy="3794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870448"/>
            <a:ext cx="10716768" cy="41148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5961888"/>
            <a:ext cx="210312" cy="210312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870448"/>
            <a:ext cx="9930384" cy="4114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3B54"/>
                </a:solidFill>
                <a:latin typeface="Arial"/>
              </a:rPr>
              <a:t>The verifier chooses decomposition 91.8% of the time while retaining a direct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B3972"/>
                </a:solidFill>
                <a:latin typeface="Times New Roman"/>
              </a:rPr>
              <a:t>Direct-vs-Decompose Oracle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05840"/>
            <a:ext cx="1092708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1">
                <a:solidFill>
                  <a:srgbClr val="52606D"/>
                </a:solidFill>
                <a:latin typeface="Arial"/>
              </a:rPr>
              <a:t>Thesis-formatted result  ·  accuracy-first tail-leakage gate  τ = 0.002305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62456"/>
            <a:ext cx="11018520" cy="43708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1389888" cy="24688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1316736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3B54"/>
                </a:solidFill>
                <a:latin typeface="Arial"/>
              </a:rPr>
              <a:t>Thesis Figure 5.5</a:t>
            </a:r>
          </a:p>
        </p:txBody>
      </p:sp>
      <p:pic>
        <p:nvPicPr>
          <p:cNvPr id="14" name="Picture 13" descr="fig_routing_gap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293" y="1682496"/>
            <a:ext cx="6975788" cy="3794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870448"/>
            <a:ext cx="10716768" cy="41148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5961888"/>
            <a:ext cx="210312" cy="210312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870448"/>
            <a:ext cx="9930384" cy="4114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3B54"/>
                </a:solidFill>
                <a:latin typeface="Arial"/>
              </a:rPr>
              <a:t>A perfect path selector still offers +4.05 EM on average; HotpotQA has the largest gap (+6.0).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