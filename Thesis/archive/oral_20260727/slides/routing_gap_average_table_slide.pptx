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3972"/>
                </a:solidFill>
                <a:latin typeface="Times New Roman"/>
              </a:rPr>
              <a:t>Direct-vs-Decompose Verifier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05840"/>
            <a:ext cx="1092708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1">
                <a:solidFill>
                  <a:srgbClr val="52606D"/>
                </a:solidFill>
                <a:latin typeface="Arial"/>
              </a:rPr>
              <a:t>Thesis-formatted summary  ·  exact match at the accuracy-first operating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62456"/>
            <a:ext cx="11018520" cy="44074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17904"/>
            <a:ext cx="1828800" cy="24688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08760"/>
            <a:ext cx="175564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73B54"/>
                </a:solidFill>
                <a:latin typeface="Arial"/>
              </a:rPr>
              <a:t>Thesis Figure 5.5 · tabular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536192"/>
            <a:ext cx="6729984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191A"/>
                </a:solidFill>
                <a:latin typeface="Times New Roman"/>
              </a:rPr>
              <a:t>Final Verifier and Oracle Headroom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828800"/>
            <a:ext cx="5266944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1">
                <a:solidFill>
                  <a:srgbClr val="52606D"/>
                </a:solidFill>
                <a:latin typeface="Times New Roman"/>
              </a:rPr>
              <a:t>Exact Match (EM); higher is better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2167128"/>
            <a:ext cx="10140696" cy="14630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203704"/>
            <a:ext cx="1901952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191A"/>
                </a:solidFill>
                <a:latin typeface="Times New Roman"/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2203704"/>
            <a:ext cx="1975104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191A"/>
                </a:solidFill>
                <a:latin typeface="Times New Roman"/>
              </a:rPr>
              <a:t>Best pure
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203704"/>
            <a:ext cx="2075688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191A"/>
                </a:solidFill>
                <a:latin typeface="Times New Roman"/>
              </a:rPr>
              <a:t>SEEK final
verifier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203704"/>
            <a:ext cx="1901952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191A"/>
                </a:solidFill>
                <a:latin typeface="Times New Roman"/>
              </a:rPr>
              <a:t>Oracle
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2203704"/>
            <a:ext cx="1920240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191A"/>
                </a:solidFill>
                <a:latin typeface="Times New Roman"/>
              </a:rPr>
              <a:t>Oracle −
Verifier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" y="2825496"/>
            <a:ext cx="10140696" cy="9144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2852927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HotpotQA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2852927"/>
            <a:ext cx="1920240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36.0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2852927"/>
            <a:ext cx="2020824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37.8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2852927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43.8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852927"/>
            <a:ext cx="1865376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+6.0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3337560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2Wiki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8648" y="3337560"/>
            <a:ext cx="1920240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49.7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337560"/>
            <a:ext cx="2020824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49.3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744" y="3337560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53.3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337560"/>
            <a:ext cx="1865376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+4.0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" y="3822192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MuSiQue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98648" y="3822192"/>
            <a:ext cx="1920240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26.7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6904" y="3822192"/>
            <a:ext cx="2020824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26.5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3822192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29.4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3822192"/>
            <a:ext cx="1865376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+2.9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" y="4306824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PopQA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8648" y="4306824"/>
            <a:ext cx="1920240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54.0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6904" y="4306824"/>
            <a:ext cx="2020824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53.9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4" y="4306824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57.2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0848" y="4306824"/>
            <a:ext cx="1865376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11111"/>
                </a:solidFill>
                <a:latin typeface="Times New Roman"/>
              </a:rPr>
              <a:t>+3.3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" y="4764024"/>
            <a:ext cx="10140696" cy="9144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" y="4791456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73B54"/>
                </a:solidFill>
                <a:latin typeface="Times New Roman"/>
              </a:rPr>
              <a:t>Macro Average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98648" y="4791456"/>
            <a:ext cx="1920240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73B54"/>
                </a:solidFill>
                <a:latin typeface="Times New Roman"/>
              </a:rPr>
              <a:t>41.60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6904" y="4791456"/>
            <a:ext cx="2020824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73B54"/>
                </a:solidFill>
                <a:latin typeface="Times New Roman"/>
              </a:rPr>
              <a:t>41.88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5744" y="4791456"/>
            <a:ext cx="1847088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73B54"/>
                </a:solidFill>
                <a:latin typeface="Times New Roman"/>
              </a:rPr>
              <a:t>45.93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4791456"/>
            <a:ext cx="1865376" cy="4297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37455"/>
                </a:solidFill>
                <a:latin typeface="Times New Roman"/>
              </a:rPr>
              <a:t>+4.05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" y="5248656"/>
            <a:ext cx="10140696" cy="14630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65376" y="5376672"/>
            <a:ext cx="84490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2606D"/>
                </a:solidFill>
                <a:latin typeface="Arial"/>
              </a:rPr>
              <a:t>Best pure path = the better of always-direct and always-decompose within each dataset.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" y="5879592"/>
            <a:ext cx="10716768" cy="402336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2688" y="5971032"/>
            <a:ext cx="210312" cy="210312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61872" y="5870448"/>
            <a:ext cx="9930384" cy="4114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3B54"/>
                </a:solidFill>
                <a:latin typeface="Arial"/>
              </a:rPr>
              <a:t>Macro average: SEEK final verifier is +0.28 EM above the best pure path; oracle headroom remains +4.05 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