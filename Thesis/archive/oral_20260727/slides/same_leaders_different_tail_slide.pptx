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48672" y="0"/>
            <a:ext cx="2240280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0112" y="18288"/>
            <a:ext cx="1993392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9281160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D4967"/>
                </a:solidFill>
                <a:latin typeface="Times New Roman"/>
              </a:rPr>
              <a:t>Same Leading Candidates, Different Tail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0753344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0863072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66576" y="5879592"/>
            <a:ext cx="932688" cy="932688"/>
          </a:xfrm>
          <a:prstGeom prst="ellipse">
            <a:avLst/>
          </a:prstGeom>
          <a:solidFill>
            <a:srgbClr val="AEC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31168" y="6510528"/>
            <a:ext cx="35661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D4967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87552"/>
            <a:ext cx="1097280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26B70"/>
                </a:solidFill>
                <a:latin typeface="Times New Roman"/>
              </a:rPr>
              <a:t>The two leading probabilities are identical; only the remaining mass moves from ranks 3–5 into the 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36392" y="1298448"/>
            <a:ext cx="5907024" cy="621792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353312"/>
            <a:ext cx="1956816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73B54"/>
                </a:solidFill>
                <a:latin typeface="Arial"/>
              </a:rPr>
              <a:t>Identical in both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22392" y="1399032"/>
            <a:ext cx="1097280" cy="457200"/>
          </a:xfrm>
          <a:prstGeom prst="roundRect">
            <a:avLst/>
          </a:prstGeom>
          <a:solidFill>
            <a:srgbClr val="21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1371600"/>
            <a:ext cx="1024128" cy="5120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PO  0.38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399032"/>
            <a:ext cx="1097280" cy="457200"/>
          </a:xfrm>
          <a:prstGeom prst="roundRect">
            <a:avLst/>
          </a:prstGeom>
          <a:solidFill>
            <a:srgbClr val="6B9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1371600"/>
            <a:ext cx="1024128" cy="5120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po  0.26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362456"/>
            <a:ext cx="10515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3B54"/>
                </a:solidFill>
                <a:latin typeface="Arial"/>
              </a:rPr>
              <a:t>top-2 mass = 64%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048256"/>
            <a:ext cx="5230368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2212848"/>
            <a:ext cx="4901183" cy="365760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185416"/>
            <a:ext cx="4773168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7455"/>
                </a:solidFill>
                <a:latin typeface="Arial"/>
              </a:rPr>
              <a:t>A · Remaining mass stays near the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88336"/>
            <a:ext cx="449884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The remaining 36% is allocated to: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3035808"/>
            <a:ext cx="1847088" cy="768096"/>
          </a:xfrm>
          <a:prstGeom prst="roundRect">
            <a:avLst/>
          </a:prstGeom>
          <a:solidFill>
            <a:srgbClr val="F8F4EC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081528"/>
            <a:ext cx="1700784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8922"/>
                </a:solidFill>
                <a:latin typeface="Arial"/>
              </a:rPr>
              <a:t>Ranks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28416"/>
            <a:ext cx="170078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D88922"/>
                </a:solidFill>
                <a:latin typeface="Arial"/>
              </a:rPr>
              <a:t>0.15  +  0.10  +  0.08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182112"/>
            <a:ext cx="347472" cy="36576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D4967"/>
                </a:solidFill>
                <a:latin typeface="Times New Roman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7872" y="3035808"/>
            <a:ext cx="1719072" cy="768096"/>
          </a:xfrm>
          <a:prstGeom prst="roundRect">
            <a:avLst/>
          </a:prstGeom>
          <a:solidFill>
            <a:srgbClr val="EEF4FA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3081528"/>
            <a:ext cx="1572768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C86C6"/>
                </a:solidFill>
                <a:latin typeface="Arial"/>
              </a:rPr>
              <a:t>Tail mass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3300984"/>
            <a:ext cx="157276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C86C6"/>
                </a:solidFill>
                <a:latin typeface="Arial"/>
              </a:rPr>
              <a:t>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968496"/>
            <a:ext cx="4315968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26B70"/>
                </a:solidFill>
                <a:latin typeface="Arial"/>
              </a:rPr>
              <a:t>Full probability mass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5568" y="4233672"/>
            <a:ext cx="1640067" cy="438912"/>
          </a:xfrm>
          <a:prstGeom prst="roundRect">
            <a:avLst/>
          </a:prstGeom>
          <a:solidFill>
            <a:srgbClr val="21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55635" y="4233672"/>
            <a:ext cx="1122151" cy="438912"/>
          </a:xfrm>
          <a:prstGeom prst="roundRect">
            <a:avLst/>
          </a:prstGeom>
          <a:solidFill>
            <a:srgbClr val="6B9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77787" y="4233672"/>
            <a:ext cx="1424269" cy="43891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2056" y="4233672"/>
            <a:ext cx="129479" cy="43891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270248"/>
            <a:ext cx="1493763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PO  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1355" y="4270248"/>
            <a:ext cx="1030711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po  26%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4363" y="4270248"/>
            <a:ext cx="1351117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FFFFFF"/>
                </a:solidFill>
                <a:latin typeface="Arial"/>
              </a:rPr>
              <a:t>ranks 3–5 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4727448"/>
            <a:ext cx="256032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8922"/>
                </a:solidFill>
                <a:latin typeface="Arial"/>
              </a:rPr>
              <a:t>top-5 retained mass  97%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9856" y="4727448"/>
            <a:ext cx="20116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C86C6"/>
                </a:solidFill>
                <a:latin typeface="Arial"/>
              </a:rPr>
              <a:t>tail leakage  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64208" y="5038344"/>
            <a:ext cx="3218688" cy="256032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39" y="5001768"/>
            <a:ext cx="316382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37455"/>
                </a:solidFill>
                <a:latin typeface="Arial"/>
              </a:rPr>
              <a:t>97% remains in the top-5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2048256"/>
            <a:ext cx="5230368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64224" y="2212848"/>
            <a:ext cx="4901183" cy="365760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2185416"/>
            <a:ext cx="4773168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543E"/>
                </a:solidFill>
                <a:latin typeface="Arial"/>
              </a:rPr>
              <a:t>B · Remaining mass escapes to the tail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2688336"/>
            <a:ext cx="449884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The remaining 36% is allocated to: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39712" y="3035808"/>
            <a:ext cx="1847088" cy="768096"/>
          </a:xfrm>
          <a:prstGeom prst="roundRect">
            <a:avLst/>
          </a:prstGeom>
          <a:solidFill>
            <a:srgbClr val="F8F4EC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12864" y="3081528"/>
            <a:ext cx="1700784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8922"/>
                </a:solidFill>
                <a:latin typeface="Arial"/>
              </a:rPr>
              <a:t>Ranks 3–5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2864" y="3328416"/>
            <a:ext cx="170078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D88922"/>
                </a:solidFill>
                <a:latin typeface="Arial"/>
              </a:rPr>
              <a:t>0.05  +  0.05  +  0.04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1664" y="3182112"/>
            <a:ext cx="347472" cy="36576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D4967"/>
                </a:solidFill>
                <a:latin typeface="Times New Roman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89136" y="3035808"/>
            <a:ext cx="1719072" cy="768096"/>
          </a:xfrm>
          <a:prstGeom prst="roundRect">
            <a:avLst/>
          </a:prstGeom>
          <a:solidFill>
            <a:srgbClr val="EEF4FA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88" y="3081528"/>
            <a:ext cx="1572768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C86C6"/>
                </a:solidFill>
                <a:latin typeface="Arial"/>
              </a:rPr>
              <a:t>Tail mass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3300984"/>
            <a:ext cx="157276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C86C6"/>
                </a:solidFill>
                <a:latin typeface="Arial"/>
              </a:rPr>
              <a:t>22%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6832" y="3968496"/>
            <a:ext cx="4315968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26B70"/>
                </a:solidFill>
                <a:latin typeface="Arial"/>
              </a:rPr>
              <a:t>Full probability mass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56832" y="4233672"/>
            <a:ext cx="1640067" cy="438912"/>
          </a:xfrm>
          <a:prstGeom prst="roundRect">
            <a:avLst/>
          </a:prstGeom>
          <a:solidFill>
            <a:srgbClr val="21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96899" y="4233672"/>
            <a:ext cx="1122151" cy="438912"/>
          </a:xfrm>
          <a:prstGeom prst="roundRect">
            <a:avLst/>
          </a:prstGeom>
          <a:solidFill>
            <a:srgbClr val="6B9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419051" y="4233672"/>
            <a:ext cx="604235" cy="43891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023287" y="4233672"/>
            <a:ext cx="949512" cy="43891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9984" y="4270248"/>
            <a:ext cx="1493763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PO  38%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2619" y="4270248"/>
            <a:ext cx="1030711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po  26%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37339" y="4242816"/>
            <a:ext cx="567659" cy="4114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3–5
14%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9863" y="4270248"/>
            <a:ext cx="876360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Arial"/>
              </a:rPr>
              <a:t>tail  22%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4727448"/>
            <a:ext cx="256032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8922"/>
                </a:solidFill>
                <a:latin typeface="Arial"/>
              </a:rPr>
              <a:t>top-5 retained mass  78%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4727448"/>
            <a:ext cx="20116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C86C6"/>
                </a:solidFill>
                <a:latin typeface="Arial"/>
              </a:rPr>
              <a:t>tail leakage  22%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05472" y="5038344"/>
            <a:ext cx="3218688" cy="256032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32904" y="5001768"/>
            <a:ext cx="316382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C9543E"/>
                </a:solidFill>
                <a:latin typeface="Arial"/>
              </a:rPr>
              <a:t>Tail leakage rises from 3% to 22%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9808" y="5641848"/>
            <a:ext cx="10680192" cy="640080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" y="5669280"/>
            <a:ext cx="10204704" cy="36576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B54"/>
                </a:solidFill>
                <a:latin typeface="Times New Roman"/>
              </a:rPr>
              <a:t>PO and po look equally strong in both cases; 19 percentage points moving into the tail reveals the confidence drop.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67912" y="6007608"/>
            <a:ext cx="4443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26B70"/>
                </a:solidFill>
                <a:latin typeface="Arial"/>
              </a:rPr>
              <a:t>Illustrative distributions; each row sums to 1.00.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