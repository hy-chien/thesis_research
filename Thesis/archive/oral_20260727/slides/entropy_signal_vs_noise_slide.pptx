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48672" y="0"/>
            <a:ext cx="2240280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0112" y="18288"/>
            <a:ext cx="1993392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9281160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D4967"/>
                </a:solidFill>
                <a:latin typeface="Times New Roman"/>
              </a:rPr>
              <a:t>Same Entropy, Different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0753344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0863072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66576" y="5879592"/>
            <a:ext cx="932688" cy="932688"/>
          </a:xfrm>
          <a:prstGeom prst="ellipse">
            <a:avLst/>
          </a:prstGeom>
          <a:solidFill>
            <a:srgbClr val="AEC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31168" y="6510528"/>
            <a:ext cx="35661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D4967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87552"/>
            <a:ext cx="109728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1">
                <a:solidFill>
                  <a:srgbClr val="626B70"/>
                </a:solidFill>
                <a:latin typeface="Times New Roman"/>
              </a:rPr>
              <a:t>The leading predictions and Shannon entropy are identical in both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54480"/>
            <a:ext cx="5394960" cy="3886200"/>
          </a:xfrm>
          <a:prstGeom prst="roundRect">
            <a:avLst/>
          </a:prstGeom>
          <a:solidFill>
            <a:srgbClr val="D9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53949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1664208"/>
            <a:ext cx="5029200" cy="39319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636776"/>
            <a:ext cx="4846320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37455"/>
                </a:solidFill>
                <a:latin typeface="Arial"/>
              </a:rPr>
              <a:t>A · 10% Probability in the 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167128"/>
            <a:ext cx="336499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6B70"/>
                </a:solidFill>
                <a:latin typeface="Arial"/>
              </a:rPr>
              <a:t>Same leaders:  PO = 0.38  ·  po = 0.26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112264"/>
            <a:ext cx="1188720" cy="356616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093976"/>
            <a:ext cx="1097280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173B54"/>
                </a:solidFill>
                <a:latin typeface="Arial"/>
              </a:rPr>
              <a:t>H ≈ 1.83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3856" y="3082442"/>
            <a:ext cx="329184" cy="1407261"/>
          </a:xfrm>
          <a:prstGeom prst="roundRect">
            <a:avLst/>
          </a:prstGeom>
          <a:solidFill>
            <a:srgbClr val="D98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2835554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D88922"/>
                </a:solidFill>
                <a:latin typeface="Arial"/>
              </a:rPr>
              <a:t>0.38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191A"/>
                </a:solidFill>
                <a:latin typeface="Arial"/>
              </a:rPr>
              <a:t>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63624" y="3526840"/>
            <a:ext cx="329184" cy="962863"/>
          </a:xfrm>
          <a:prstGeom prst="roundRect">
            <a:avLst/>
          </a:prstGeom>
          <a:solidFill>
            <a:srgbClr val="E5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0472" y="3279952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D88922"/>
                </a:solidFill>
                <a:latin typeface="Arial"/>
              </a:rPr>
              <a:t>0.26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191A"/>
                </a:solidFill>
                <a:latin typeface="Arial"/>
              </a:rPr>
              <a:t>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93391" y="4082338"/>
            <a:ext cx="329184" cy="407365"/>
          </a:xfrm>
          <a:prstGeom prst="roundRect">
            <a:avLst/>
          </a:prstGeom>
          <a:solidFill>
            <a:srgbClr val="E8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39" y="3835450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D88922"/>
                </a:solidFill>
                <a:latin typeface="Arial"/>
              </a:rPr>
              <a:t>0.11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8191A"/>
                </a:solidFill>
                <a:latin typeface="Arial"/>
              </a:rPr>
              <a:t>r3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59" y="4193438"/>
            <a:ext cx="329184" cy="296265"/>
          </a:xfrm>
          <a:prstGeom prst="roundRect">
            <a:avLst/>
          </a:prstGeom>
          <a:solidFill>
            <a:srgbClr val="EC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0007" y="3946550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D88922"/>
                </a:solidFill>
                <a:latin typeface="Arial"/>
              </a:rPr>
              <a:t>0.08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8191A"/>
                </a:solidFill>
                <a:latin typeface="Arial"/>
              </a:rPr>
              <a:t>r4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2927" y="4230471"/>
            <a:ext cx="329184" cy="259232"/>
          </a:xfrm>
          <a:prstGeom prst="roundRect">
            <a:avLst/>
          </a:prstGeom>
          <a:solidFill>
            <a:srgbClr val="F0B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9775" y="3983583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D88922"/>
                </a:solidFill>
                <a:latin typeface="Arial"/>
              </a:rPr>
              <a:t>0.07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7207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8191A"/>
                </a:solidFill>
                <a:latin typeface="Arial"/>
              </a:rPr>
              <a:t>r5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89603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58767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27931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97095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6259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35423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04587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73751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42915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12079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81243" y="4458843"/>
            <a:ext cx="109728" cy="30861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06424" y="4489704"/>
            <a:ext cx="4407408" cy="18288"/>
          </a:xfrm>
          <a:prstGeom prst="rect">
            <a:avLst/>
          </a:prstGeom>
          <a:solidFill>
            <a:srgbClr val="B8C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71016" y="4754880"/>
            <a:ext cx="175564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8922"/>
                </a:solidFill>
                <a:latin typeface="Arial"/>
              </a:rPr>
              <a:t>head · ranks 1–5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95344" y="4754880"/>
            <a:ext cx="138988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C86C6"/>
                </a:solidFill>
                <a:latin typeface="Arial"/>
              </a:rPr>
              <a:t>tail · ranks 6+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10711" y="3063240"/>
            <a:ext cx="2066543" cy="521207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3054096"/>
            <a:ext cx="1938528" cy="5394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4C86C6"/>
                </a:solidFill>
                <a:latin typeface="Arial"/>
              </a:rPr>
              <a:t>tail probability = 10%
12 tokens × 0.83%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38528" y="5065776"/>
            <a:ext cx="2834640" cy="228600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84248" y="5038344"/>
            <a:ext cx="2743200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37455"/>
                </a:solidFill>
                <a:latin typeface="Arial"/>
              </a:rPr>
              <a:t>10% outside the top-5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1" y="1554480"/>
            <a:ext cx="5394960" cy="3886200"/>
          </a:xfrm>
          <a:prstGeom prst="roundRect">
            <a:avLst/>
          </a:prstGeom>
          <a:solidFill>
            <a:srgbClr val="D9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44768" y="1481328"/>
            <a:ext cx="53949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27648" y="1664208"/>
            <a:ext cx="5029200" cy="393192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088" y="1636776"/>
            <a:ext cx="4846320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C9543E"/>
                </a:solidFill>
                <a:latin typeface="Arial"/>
              </a:rPr>
              <a:t>B · 20% Probability in the Tail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2167128"/>
            <a:ext cx="336499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6B70"/>
                </a:solidFill>
                <a:latin typeface="Arial"/>
              </a:rPr>
              <a:t>Same leaders:  PO = 0.38  ·  po = 0.26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8672" y="2112264"/>
            <a:ext cx="1188720" cy="356616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94392" y="2093976"/>
            <a:ext cx="1097280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173B54"/>
                </a:solidFill>
                <a:latin typeface="Arial"/>
              </a:rPr>
              <a:t>H ≈ 1.83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20256" y="3082442"/>
            <a:ext cx="329184" cy="1407261"/>
          </a:xfrm>
          <a:prstGeom prst="roundRect">
            <a:avLst/>
          </a:prstGeom>
          <a:solidFill>
            <a:srgbClr val="D98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7104" y="2835554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D88922"/>
                </a:solidFill>
                <a:latin typeface="Arial"/>
              </a:rPr>
              <a:t>0.38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4536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191A"/>
                </a:solidFill>
                <a:latin typeface="Arial"/>
              </a:rPr>
              <a:t>PO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50024" y="3526840"/>
            <a:ext cx="329184" cy="962863"/>
          </a:xfrm>
          <a:prstGeom prst="roundRect">
            <a:avLst/>
          </a:prstGeom>
          <a:solidFill>
            <a:srgbClr val="E5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76872" y="3279952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D88922"/>
                </a:solidFill>
                <a:latin typeface="Arial"/>
              </a:rPr>
              <a:t>0.26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04304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191A"/>
                </a:solidFill>
                <a:latin typeface="Arial"/>
              </a:rPr>
              <a:t>po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79792" y="4267504"/>
            <a:ext cx="329184" cy="222199"/>
          </a:xfrm>
          <a:prstGeom prst="roundRect">
            <a:avLst/>
          </a:prstGeom>
          <a:solidFill>
            <a:srgbClr val="E8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4020616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D88922"/>
                </a:solidFill>
                <a:latin typeface="Arial"/>
              </a:rPr>
              <a:t>0.06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34071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8191A"/>
                </a:solidFill>
                <a:latin typeface="Arial"/>
              </a:rPr>
              <a:t>r3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09560" y="4304538"/>
            <a:ext cx="329184" cy="185166"/>
          </a:xfrm>
          <a:prstGeom prst="roundRect">
            <a:avLst/>
          </a:prstGeom>
          <a:solidFill>
            <a:srgbClr val="EC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36408" y="4057650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D88922"/>
                </a:solidFill>
                <a:latin typeface="Arial"/>
              </a:rPr>
              <a:t>0.05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8191A"/>
                </a:solidFill>
                <a:latin typeface="Arial"/>
              </a:rPr>
              <a:t>r4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39328" y="4304538"/>
            <a:ext cx="329184" cy="185166"/>
          </a:xfrm>
          <a:prstGeom prst="roundRect">
            <a:avLst/>
          </a:prstGeom>
          <a:solidFill>
            <a:srgbClr val="F0B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4057650"/>
            <a:ext cx="47548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D88922"/>
                </a:solidFill>
                <a:latin typeface="Arial"/>
              </a:rPr>
              <a:t>0.05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93608" y="4535424"/>
            <a:ext cx="420623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8191A"/>
                </a:solidFill>
                <a:latin typeface="Arial"/>
              </a:rPr>
              <a:t>r5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06840" y="4341571"/>
            <a:ext cx="109728" cy="14813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176004" y="4341571"/>
            <a:ext cx="109728" cy="14813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345168" y="4341571"/>
            <a:ext cx="109728" cy="14813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14332" y="4341571"/>
            <a:ext cx="109728" cy="14813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683496" y="4341571"/>
            <a:ext cx="109728" cy="14813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92824" y="4489704"/>
            <a:ext cx="4407408" cy="18288"/>
          </a:xfrm>
          <a:prstGeom prst="rect">
            <a:avLst/>
          </a:prstGeom>
          <a:solidFill>
            <a:srgbClr val="B8C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57416" y="4754880"/>
            <a:ext cx="175564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8922"/>
                </a:solidFill>
                <a:latin typeface="Arial"/>
              </a:rPr>
              <a:t>head · ranks 1–5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81744" y="4754880"/>
            <a:ext cx="138988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C86C6"/>
                </a:solidFill>
                <a:latin typeface="Arial"/>
              </a:rPr>
              <a:t>tail · ranks 6+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97112" y="3063240"/>
            <a:ext cx="2066543" cy="521207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61120" y="3054096"/>
            <a:ext cx="1938528" cy="5394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4C86C6"/>
                </a:solidFill>
                <a:latin typeface="Arial"/>
              </a:rPr>
              <a:t>tail probability = 20%
5 tokens × 4.00%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424927" y="5065776"/>
            <a:ext cx="2834640" cy="228600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0648" y="5038344"/>
            <a:ext cx="2743200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C9543E"/>
                </a:solidFill>
                <a:latin typeface="Arial"/>
              </a:rPr>
              <a:t>20% outside the top-5 (2×)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49808" y="5669280"/>
            <a:ext cx="10680192" cy="502920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7552" y="5687568"/>
            <a:ext cx="10204704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73B54"/>
                </a:solidFill>
                <a:latin typeface="Times New Roman"/>
              </a:rPr>
              <a:t>Same entropy, different tail risk: probability outside the top-5 doubles from 10% to 20%.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