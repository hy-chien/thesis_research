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965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64B6B"/>
                </a:solidFill>
                <a:latin typeface="Georgia"/>
              </a:rPr>
              <a:t>Motivation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32688" y="749808"/>
            <a:ext cx="10314432" cy="0"/>
          </a:xfrm>
          <a:prstGeom prst="line">
            <a:avLst/>
          </a:prstGeom>
          <a:ln w="12700">
            <a:solidFill>
              <a:srgbClr val="7B9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9930384" y="0"/>
            <a:ext cx="2258568" cy="56692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21824" y="91440"/>
            <a:ext cx="20482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Georgia"/>
              </a:rPr>
              <a:t>Introduction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" y="1147572"/>
            <a:ext cx="5074920" cy="4709160"/>
          </a:xfrm>
          <a:prstGeom prst="roundRect">
            <a:avLst/>
          </a:prstGeom>
          <a:solidFill>
            <a:srgbClr val="E1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097280"/>
            <a:ext cx="50749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33388" y="1147572"/>
            <a:ext cx="5074920" cy="4709160"/>
          </a:xfrm>
          <a:prstGeom prst="roundRect">
            <a:avLst/>
          </a:prstGeom>
          <a:solidFill>
            <a:srgbClr val="E1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097280"/>
            <a:ext cx="50749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833872" y="3154680"/>
            <a:ext cx="411480" cy="393192"/>
          </a:xfrm>
          <a:prstGeom prst="rightArrow">
            <a:avLst/>
          </a:prstGeom>
          <a:solidFill>
            <a:srgbClr val="17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1344168"/>
            <a:ext cx="484632" cy="484632"/>
          </a:xfrm>
          <a:prstGeom prst="ellipse">
            <a:avLst/>
          </a:prstGeom>
          <a:solidFill>
            <a:srgbClr val="0B3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344168"/>
            <a:ext cx="484632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1307592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3972"/>
                </a:solidFill>
                <a:latin typeface="Georgia"/>
              </a:rPr>
              <a:t>RESEARCH QUESTION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0" y="1344168"/>
            <a:ext cx="484632" cy="484632"/>
          </a:xfrm>
          <a:prstGeom prst="ellipse">
            <a:avLst/>
          </a:prstGeom>
          <a:solidFill>
            <a:srgbClr val="0B3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344168"/>
            <a:ext cx="484632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1307592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3972"/>
                </a:solidFill>
                <a:latin typeface="Georgia"/>
              </a:rPr>
              <a:t>SOLUTION — SEEK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1810512"/>
            <a:ext cx="3675887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2606D"/>
                </a:solidFill>
                <a:latin typeface="Arial"/>
              </a:rPr>
              <a:t>EXISTING APPROACHES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1975104"/>
            <a:ext cx="2103120" cy="932688"/>
          </a:xfrm>
          <a:prstGeom prst="roundRect">
            <a:avLst/>
          </a:prstGeom>
          <a:solidFill>
            <a:srgbClr val="F6FAFE"/>
          </a:solidFill>
          <a:ln w="12700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9848" y="2221992"/>
            <a:ext cx="420624" cy="42062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222199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67D2"/>
                </a:solidFill>
                <a:latin typeface="Arial"/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039112"/>
            <a:ext cx="13075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3972"/>
                </a:solidFill>
                <a:latin typeface="Arial"/>
              </a:rPr>
              <a:t>TOKEN-LEVEL
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246888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2606D"/>
                </a:solidFill>
                <a:latin typeface="Arial"/>
              </a:rPr>
              <a:t>Local uncertainty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36976" y="1975104"/>
            <a:ext cx="2103120" cy="932688"/>
          </a:xfrm>
          <a:prstGeom prst="roundRect">
            <a:avLst/>
          </a:prstGeom>
          <a:solidFill>
            <a:srgbClr val="F6FAFE"/>
          </a:solidFill>
          <a:ln w="12700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74136" y="2221992"/>
            <a:ext cx="420624" cy="42062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74136" y="222199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67D2"/>
                </a:solidFill>
                <a:latin typeface="Arial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4487" y="2039112"/>
            <a:ext cx="13075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3972"/>
                </a:solidFill>
                <a:latin typeface="Arial"/>
              </a:rPr>
              <a:t>QUESTION-LEVEL
CLASSIFICATION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5344" y="246888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2606D"/>
                </a:solidFill>
                <a:latin typeface="Arial"/>
              </a:rPr>
              <a:t>One route per 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136392"/>
            <a:ext cx="40782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064B6B"/>
                </a:solidFill>
                <a:latin typeface="Arial"/>
              </a:rPr>
              <a:t>RESEARCH FOCUS  ·  SUB-QUESTION-LEVEL ROUTING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" y="3630168"/>
            <a:ext cx="4407408" cy="1161288"/>
          </a:xfrm>
          <a:prstGeom prst="roundRect">
            <a:avLst/>
          </a:prstGeom>
          <a:solidFill>
            <a:srgbClr val="F6FAFE"/>
          </a:solidFill>
          <a:ln w="16510">
            <a:solidFill>
              <a:srgbClr val="17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288" y="3730752"/>
            <a:ext cx="3986784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111827"/>
                </a:solidFill>
                <a:latin typeface="Georgia"/>
              </a:rPr>
              <a:t>Can adaptive RAG make interpretable
retrieval decisions at each sub-question
without learning a separate retrieval policy?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81912" y="5056632"/>
            <a:ext cx="3108960" cy="329184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81912" y="5056632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1">
                <a:solidFill>
                  <a:srgbClr val="52606D"/>
                </a:solidFill>
                <a:latin typeface="Arial"/>
              </a:rPr>
              <a:t>Decomposition remains reversible.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39712" y="1975104"/>
            <a:ext cx="4389120" cy="859536"/>
          </a:xfrm>
          <a:prstGeom prst="roundRect">
            <a:avLst/>
          </a:prstGeom>
          <a:solidFill>
            <a:srgbClr val="F6FAFE"/>
          </a:solidFill>
          <a:ln w="12700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04304" y="2185416"/>
            <a:ext cx="438912" cy="43891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04304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67D2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2066544"/>
            <a:ext cx="33101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B3972"/>
                </a:solidFill>
                <a:latin typeface="Arial"/>
              </a:rPr>
              <a:t>Sub-question self-certainty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2414016"/>
            <a:ext cx="33101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2606D"/>
                </a:solidFill>
                <a:latin typeface="Arial"/>
              </a:rPr>
              <a:t>Token probabilities → step-level signal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39712" y="3063240"/>
            <a:ext cx="4389120" cy="859536"/>
          </a:xfrm>
          <a:prstGeom prst="roundRect">
            <a:avLst/>
          </a:prstGeom>
          <a:solidFill>
            <a:srgbClr val="F6FAFE"/>
          </a:solidFill>
          <a:ln w="12700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004304" y="3273552"/>
            <a:ext cx="438912" cy="43891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04304" y="3273552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67D2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154680"/>
            <a:ext cx="33101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B3972"/>
                </a:solidFill>
                <a:latin typeface="Arial"/>
              </a:rPr>
              <a:t>Evidence-gated retrieval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3502152"/>
            <a:ext cx="33101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2606D"/>
                </a:solidFill>
                <a:latin typeface="Arial"/>
              </a:rPr>
              <a:t>Retrieve only when a sub-question is uncertain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39712" y="4151376"/>
            <a:ext cx="4389120" cy="859536"/>
          </a:xfrm>
          <a:prstGeom prst="roundRect">
            <a:avLst/>
          </a:prstGeom>
          <a:solidFill>
            <a:srgbClr val="F6FAFE"/>
          </a:solidFill>
          <a:ln w="12700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04304" y="4361688"/>
            <a:ext cx="438912" cy="43891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7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04304" y="436168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67D2"/>
                </a:solidFill>
                <a:latin typeface="Arial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4242816"/>
            <a:ext cx="33101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B3972"/>
                </a:solidFill>
                <a:latin typeface="Arial"/>
              </a:rPr>
              <a:t>Dual-path verification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4590288"/>
            <a:ext cx="33101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2606D"/>
                </a:solidFill>
                <a:latin typeface="Arial"/>
              </a:rPr>
              <a:t>Preserve original and decomposed candidates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034272" y="2834640"/>
            <a:ext cx="0" cy="228600"/>
          </a:xfrm>
          <a:prstGeom prst="line">
            <a:avLst/>
          </a:prstGeom>
          <a:ln w="17780">
            <a:solidFill>
              <a:srgbClr val="7B9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34272" y="3922776"/>
            <a:ext cx="0" cy="228600"/>
          </a:xfrm>
          <a:prstGeom prst="line">
            <a:avLst/>
          </a:prstGeom>
          <a:ln w="17780">
            <a:solidFill>
              <a:srgbClr val="7B9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424927" y="5285232"/>
            <a:ext cx="3246120" cy="384048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24927" y="5285232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4B6B"/>
                </a:solidFill>
                <a:latin typeface="Arial"/>
              </a:rPr>
              <a:t>No separate retrieval-policy training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41832" y="6419088"/>
            <a:ext cx="10305288" cy="0"/>
          </a:xfrm>
          <a:prstGeom prst="line">
            <a:avLst/>
          </a:prstGeom>
          <a:ln w="12700">
            <a:solidFill>
              <a:srgbClr val="7B9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Pie 52"/>
          <p:cNvSpPr/>
          <p:nvPr/>
        </p:nvSpPr>
        <p:spPr>
          <a:xfrm rot="10800000">
            <a:off x="10963656" y="6108192"/>
            <a:ext cx="530352" cy="530352"/>
          </a:xfrm>
          <a:prstGeom prst="pieWedge">
            <a:avLst/>
          </a:prstGeom>
          <a:solidFill>
            <a:srgbClr val="AFC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SEEK Motivation — Research Question and Solution v3</dc:title>
  <dc:subject>Thesis defense introduction slide</dc:subject>
  <dc:creator>SEEK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