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>
                <a:solidFill>
                  <a:srgbClr val="762326"/>
                </a:solidFill>
                <a:latin typeface="Times New Roman"/>
              </a:rPr>
              <a:t>Discovering the Signal: It Lives in the Tail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48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626B70"/>
                </a:solidFill>
                <a:latin typeface="Times New Roman"/>
              </a:rPr>
              <a:t>42-signal survey  →  entropy decomposition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417320"/>
            <a:ext cx="535838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053328" y="1417320"/>
            <a:ext cx="5632704" cy="43159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68096" y="1618488"/>
            <a:ext cx="329184" cy="32918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613916"/>
            <a:ext cx="32918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7" y="1586484"/>
            <a:ext cx="408736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Broad survey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2029968"/>
            <a:ext cx="4754880" cy="30175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626B70"/>
                </a:solidFill>
                <a:latin typeface="Arial"/>
              </a:rPr>
              <a:t>42 confidence signals  ·  4 datasets × 1,000 questions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6384" y="2350008"/>
            <a:ext cx="4736592" cy="612648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2368296"/>
            <a:ext cx="4517136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8191A"/>
                </a:solidFill>
                <a:latin typeface="Cambria Math"/>
              </a:rPr>
              <a:t>H_α(p) = 1/(1−α) · log ∑ᵥ p(v)ᵅ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2660904"/>
            <a:ext cx="4535424" cy="1920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α &gt; 1: head-heavy   ·   α → 1: Shannon   ·   α &lt; 1: tail-sensitive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3017520"/>
            <a:ext cx="1353312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626B70"/>
                </a:solidFill>
                <a:latin typeface="Arial"/>
              </a:rPr>
              <a:t>2Wiki AUROC 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" y="4818888"/>
            <a:ext cx="4535424" cy="10972"/>
          </a:xfrm>
          <a:prstGeom prst="rect">
            <a:avLst/>
          </a:prstGeom>
          <a:solidFill>
            <a:srgbClr val="CED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115568" y="4160520"/>
            <a:ext cx="658368" cy="658368"/>
          </a:xfrm>
          <a:prstGeom prst="roundRect">
            <a:avLst/>
          </a:prstGeom>
          <a:solidFill>
            <a:srgbClr val="BAC4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49624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0.651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=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1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p² → head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24912" y="3794759"/>
            <a:ext cx="658368" cy="1024128"/>
          </a:xfrm>
          <a:prstGeom prst="roundRect">
            <a:avLst/>
          </a:prstGeom>
          <a:solidFill>
            <a:srgbClr val="7892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3483863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0.671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23744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→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14016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Shannon limit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34256" y="3246120"/>
            <a:ext cx="658368" cy="1572768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24528" y="2935224"/>
            <a:ext cx="877824" cy="25603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Arial"/>
              </a:rPr>
              <a:t>0.716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33088" y="4882896"/>
            <a:ext cx="106070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8191A"/>
                </a:solidFill>
                <a:latin typeface="Arial"/>
              </a:rPr>
              <a:t>α = 0.5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023360" y="5129784"/>
            <a:ext cx="1280160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√p → tail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" y="5422392"/>
            <a:ext cx="4462272" cy="21945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0976" y="5404104"/>
            <a:ext cx="4443984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Lower α gives rare tokens more influence  →  better separation</a:t>
            </a:r>
          </a:p>
        </p:txBody>
      </p:sp>
      <p:sp>
        <p:nvSpPr>
          <p:cNvPr id="36" name="Oval 35"/>
          <p:cNvSpPr/>
          <p:nvPr/>
        </p:nvSpPr>
        <p:spPr>
          <a:xfrm>
            <a:off x="6318504" y="1618488"/>
            <a:ext cx="329184" cy="32918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18504" y="1613916"/>
            <a:ext cx="329184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57416" y="1586484"/>
            <a:ext cx="431596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Decompose entropy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55080" y="1993392"/>
            <a:ext cx="5029200" cy="1225296"/>
          </a:xfrm>
          <a:prstGeom prst="round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2020824"/>
            <a:ext cx="475488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A = top-5,  B = tail,  m₅ = P(A)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55664" y="2212848"/>
            <a:ext cx="482803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8191A"/>
                </a:solidFill>
                <a:latin typeface="Cambria Math"/>
              </a:rPr>
              <a:t>p_top(v)=p(v)/m₅ on A;  p_tail(v)=p(v)/(1−m₅) on 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64808" y="2432304"/>
            <a:ext cx="4809744" cy="21945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0" b="0" i="0">
                <a:solidFill>
                  <a:srgbClr val="18191A"/>
                </a:solidFill>
                <a:latin typeface="Cambria Math"/>
              </a:rPr>
              <a:t>H(p) = −∑ᵥ∈A p(v)log p(v) − ∑ᵥ∈B p(v)log p(v)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37376" y="2660904"/>
            <a:ext cx="4864608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90" b="0" i="0">
                <a:solidFill>
                  <a:srgbClr val="626B70"/>
                </a:solidFill>
                <a:latin typeface="Arial"/>
              </a:rPr>
              <a:t>Substitute p=m₅p_top on A and p=(1−m₅)p_tail on B; expand log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10528" y="2871216"/>
            <a:ext cx="4718304" cy="265176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2852928"/>
            <a:ext cx="4663440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0" b="1" i="0">
                <a:solidFill>
                  <a:srgbClr val="137455"/>
                </a:solidFill>
                <a:latin typeface="Cambria Math"/>
              </a:rPr>
              <a:t>⇒ H = H_B(m₅) + m₅H(p_top) + (1−m₅)H(p_tail)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9944" y="3264408"/>
            <a:ext cx="4919472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Diagnostic probes isolate shape: H(p_tail) normalizes away tail amount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31352" y="3456432"/>
            <a:ext cx="1325880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chance = 0.50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5560" y="3456432"/>
            <a:ext cx="1078992" cy="1828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9" b="0" i="0">
                <a:solidFill>
                  <a:srgbClr val="626B70"/>
                </a:solidFill>
                <a:latin typeface="Arial"/>
              </a:rPr>
              <a:t>macro AUROC 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3621023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1" i="0">
                <a:solidFill>
                  <a:srgbClr val="18191A"/>
                </a:solidFill>
                <a:latin typeface="Arial"/>
              </a:rPr>
              <a:t>Tail mass: how much escapes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64224" y="3867911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H_B(m₅)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531352" y="3712463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31352" y="3712463"/>
            <a:ext cx="2142036" cy="26517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826496" y="366674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1" i="0">
                <a:solidFill>
                  <a:srgbClr val="18191A"/>
                </a:solidFill>
                <a:latin typeface="Arial"/>
              </a:rPr>
              <a:t>0.742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64224" y="4261104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8191A"/>
                </a:solidFill>
                <a:latin typeface="Arial"/>
              </a:rPr>
              <a:t>Head shape: how top-5 splits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64224" y="4507992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H(p_top) · conditional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531352" y="4352544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531352" y="4352544"/>
            <a:ext cx="1876495" cy="265176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826496" y="430682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8191A"/>
                </a:solidFill>
                <a:latin typeface="Arial"/>
              </a:rPr>
              <a:t>0.712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364224" y="4901184"/>
            <a:ext cx="2048256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18191A"/>
                </a:solidFill>
                <a:latin typeface="Arial"/>
              </a:rPr>
              <a:t>Tail shape: how tail splits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64224" y="5148072"/>
            <a:ext cx="2048256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Cambria Math"/>
              </a:rPr>
              <a:t>H(p_tail) · conditional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531352" y="4992624"/>
            <a:ext cx="2212848" cy="265176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8531352" y="4992624"/>
            <a:ext cx="41148" cy="265176"/>
          </a:xfrm>
          <a:prstGeom prst="roundRect">
            <a:avLst/>
          </a:prstGeom>
          <a:solidFill>
            <a:srgbClr val="C65B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26496" y="4946904"/>
            <a:ext cx="53035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18191A"/>
                </a:solidFill>
                <a:latin typeface="Arial"/>
              </a:rPr>
              <a:t>0.502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501384" y="5413248"/>
            <a:ext cx="4736592" cy="237744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28816" y="5394960"/>
            <a:ext cx="4681728" cy="26517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37455"/>
                </a:solidFill>
                <a:latin typeface="Arial"/>
              </a:rPr>
              <a:t>Amount matters (.742); allocation inside the tail does not (.502)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7455"/>
                </a:solidFill>
                <a:latin typeface="Times New Roman"/>
              </a:rPr>
              <a:t>Takeaway: tail-sensitive signals detect how much mass escapes the head—not how that tail mass is arranged.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1539728" y="-347472"/>
            <a:ext cx="1298448" cy="1298448"/>
          </a:xfrm>
          <a:prstGeom prst="ellipse">
            <a:avLst/>
          </a:prstGeom>
          <a:solidFill>
            <a:srgbClr val="BFCE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893808" y="0"/>
            <a:ext cx="2295144" cy="530352"/>
          </a:xfrm>
          <a:prstGeom prst="rect">
            <a:avLst/>
          </a:prstGeom>
          <a:solidFill>
            <a:srgbClr val="EE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85248" y="18288"/>
            <a:ext cx="1938528" cy="4389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8191A"/>
                </a:solidFill>
                <a:latin typeface="Times New Roman"/>
              </a:rPr>
              <a:t>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237744"/>
            <a:ext cx="9281160" cy="56692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762326"/>
                </a:solidFill>
                <a:latin typeface="Times New Roman"/>
              </a:rPr>
              <a:t>From Entropy to tl_sum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" y="950976"/>
            <a:ext cx="11018520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6510528"/>
            <a:ext cx="10991088" cy="10058"/>
          </a:xfrm>
          <a:prstGeom prst="rect">
            <a:avLst/>
          </a:prstGeom>
          <a:solidFill>
            <a:srgbClr val="34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777472" y="5879592"/>
            <a:ext cx="932688" cy="932688"/>
          </a:xfrm>
          <a:prstGeom prst="ellipse">
            <a:avLst/>
          </a:prstGeom>
          <a:solidFill>
            <a:srgbClr val="4F81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0" y="6528816"/>
            <a:ext cx="393192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344E5C"/>
                </a:solidFill>
                <a:latin typeface="Times New Roman"/>
              </a:rPr>
              <a:t>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" y="1024128"/>
            <a:ext cx="1097280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1">
                <a:solidFill>
                  <a:srgbClr val="626B70"/>
                </a:solidFill>
                <a:latin typeface="Times New Roman"/>
              </a:rPr>
              <a:t>isolate the escape signal  →  make it monotonic  →  aggregate across tokens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389888"/>
            <a:ext cx="11183112" cy="1975104"/>
          </a:xfrm>
          <a:prstGeom prst="roundRect">
            <a:avLst/>
          </a:prstGeom>
          <a:solidFill>
            <a:srgbClr val="EEF2F4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309067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1810512"/>
            <a:ext cx="283464" cy="28346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1773936"/>
            <a:ext cx="222199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Times New Roman"/>
              </a:rPr>
              <a:t>Identify the strongest term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157984"/>
            <a:ext cx="2542032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191A"/>
                </a:solidFill>
                <a:latin typeface="Cambria Math"/>
              </a:rPr>
              <a:t>H_B(m₅)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42415" y="2551176"/>
            <a:ext cx="2468880" cy="24688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2532888"/>
            <a:ext cx="2450592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escape 0.742  &gt;  full entropy 0.726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834640"/>
            <a:ext cx="2724912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626B70"/>
                </a:solidFill>
                <a:latin typeface="Arial"/>
              </a:rPr>
              <a:t>discard within-top-5 and tail-composition terms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9624" y="2121408"/>
            <a:ext cx="3291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97096" y="1645920"/>
            <a:ext cx="3090672" cy="1417320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79976" y="1810512"/>
            <a:ext cx="283464" cy="283464"/>
          </a:xfrm>
          <a:prstGeom prst="ellipse">
            <a:avLst/>
          </a:prstGeom>
          <a:solidFill>
            <a:srgbClr val="7623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79976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1773936"/>
            <a:ext cx="2276856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8191A"/>
                </a:solidFill>
                <a:latin typeface="Times New Roman"/>
              </a:rPr>
              <a:t>Design a monotonic score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2139696"/>
            <a:ext cx="2670048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Cambria Math"/>
              </a:rPr>
              <a:t>H_B(m₅)  →  −log m₅⁽ᵗ⁾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44568" y="2542032"/>
            <a:ext cx="2395728" cy="21945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2523744"/>
            <a:ext cx="2377440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C65B42"/>
                </a:solidFill>
                <a:latin typeface="Arial"/>
              </a:rPr>
              <a:t>H_B is not globally monotonic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44568" y="2798064"/>
            <a:ext cx="2395728" cy="20116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53712" y="2779776"/>
            <a:ext cx="237744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37455"/>
                </a:solidFill>
                <a:latin typeface="Arial"/>
              </a:rPr>
              <a:t>less top-5 mass → larger score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2121408"/>
            <a:ext cx="329184" cy="3931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62672" y="1645920"/>
            <a:ext cx="3749039" cy="1417320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845552" y="1810512"/>
            <a:ext cx="283464" cy="283464"/>
          </a:xfrm>
          <a:prstGeom prst="ellipse">
            <a:avLst/>
          </a:prstGeom>
          <a:solidFill>
            <a:srgbClr val="137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5552" y="1801368"/>
            <a:ext cx="28346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0456" y="1773936"/>
            <a:ext cx="2880360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37455"/>
                </a:solidFill>
                <a:latin typeface="Times New Roman"/>
              </a:rPr>
              <a:t>Aggregate over the answer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82712" y="2084831"/>
            <a:ext cx="3145536" cy="64008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0" b="1" i="0">
                <a:solidFill>
                  <a:srgbClr val="137455"/>
                </a:solidFill>
                <a:latin typeface="Cambria Math"/>
              </a:rPr>
              <a:t>tl_sum = ∑ₜ −log m₅⁽ᵗ⁾
= −log ∏ₜ m₅⁽ᵗ⁾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1" y="2798064"/>
            <a:ext cx="3054096" cy="16459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90" b="0" i="0">
                <a:solidFill>
                  <a:srgbClr val="137455"/>
                </a:solidFill>
                <a:latin typeface="Arial"/>
              </a:rPr>
              <a:t>joint surprisal of staying inside top-5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3547872"/>
            <a:ext cx="6720840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452360" y="3547872"/>
            <a:ext cx="4233672" cy="215798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3694176"/>
            <a:ext cx="1920240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8191A"/>
                </a:solidFill>
                <a:latin typeface="Times New Roman"/>
              </a:rPr>
              <a:t>Why sum?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62072" y="3749039"/>
            <a:ext cx="3950208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626B70"/>
                </a:solidFill>
                <a:latin typeface="Arial"/>
              </a:rPr>
              <a:t>wrong answers often leak a little at several positions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0392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50976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50976" y="4416552"/>
            <a:ext cx="842345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322576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368296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t₂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468880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2468880" y="4416552"/>
            <a:ext cx="806500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95728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840480" y="4087368"/>
            <a:ext cx="1188720" cy="841248"/>
          </a:xfrm>
          <a:prstGeom prst="roundRect">
            <a:avLst/>
          </a:prstGeom>
          <a:solidFill>
            <a:srgbClr val="EEF2F4"/>
          </a:solidFill>
          <a:ln w="7620">
            <a:solidFill>
              <a:srgbClr val="CED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886200" y="4142232"/>
            <a:ext cx="1097280" cy="22860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8191A"/>
                </a:solidFill>
                <a:latin typeface="Arial"/>
              </a:rPr>
              <a:t>token t₃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986784" y="4416552"/>
            <a:ext cx="896112" cy="173736"/>
          </a:xfrm>
          <a:prstGeom prst="roundRect">
            <a:avLst/>
          </a:prstGeom>
          <a:solidFill>
            <a:srgbClr val="F2D8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3986784" y="4416552"/>
            <a:ext cx="779617" cy="173736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913632" y="4645152"/>
            <a:ext cx="1042415" cy="17373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26B70"/>
                </a:solidFill>
                <a:latin typeface="Arial"/>
              </a:rPr>
              <a:t>small leak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48256" y="4315968"/>
            <a:ext cx="2377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26B70"/>
                </a:solidFill>
                <a:latin typeface="Times New Roman"/>
              </a:rPr>
              <a:t>+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566160" y="4315968"/>
            <a:ext cx="237744" cy="274320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26B70"/>
                </a:solidFill>
                <a:latin typeface="Times New Roman"/>
              </a:rPr>
              <a:t>+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74920" y="4288536"/>
            <a:ext cx="347472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762326"/>
                </a:solidFill>
                <a:latin typeface="Times New Roman"/>
              </a:rPr>
              <a:t>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68112" y="4087368"/>
            <a:ext cx="1353312" cy="841248"/>
          </a:xfrm>
          <a:prstGeom prst="roundRect">
            <a:avLst/>
          </a:prstGeom>
          <a:solidFill>
            <a:srgbClr val="DCEFE7"/>
          </a:solidFill>
          <a:ln w="10160">
            <a:solidFill>
              <a:srgbClr val="1E9C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97296" y="4114800"/>
            <a:ext cx="694944" cy="28346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37455"/>
                </a:solidFill>
                <a:latin typeface="Cambria Math"/>
              </a:rPr>
              <a:t>Σ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596128" y="4453128"/>
            <a:ext cx="1097280" cy="24688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37455"/>
                </a:solidFill>
                <a:latin typeface="Arial"/>
              </a:rPr>
              <a:t>tl_sum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32104" y="5129784"/>
            <a:ext cx="2542032" cy="32004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41248" y="5111496"/>
            <a:ext cx="2523744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60" b="0" i="0">
                <a:solidFill>
                  <a:srgbClr val="626B70"/>
                </a:solidFill>
                <a:latin typeface="Arial"/>
              </a:rPr>
              <a:t>Worst token: keeps one position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30168" y="5129784"/>
            <a:ext cx="3136392" cy="320040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39312" y="5111496"/>
            <a:ext cx="3118104" cy="34747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37455"/>
                </a:solidFill>
                <a:latin typeface="Arial"/>
              </a:rPr>
              <a:t>tl_sum: all positions accumulate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17536" y="3694176"/>
            <a:ext cx="2084831" cy="29260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8191A"/>
                </a:solidFill>
                <a:latin typeface="Times New Roman"/>
              </a:rPr>
              <a:t>Aggregation scan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40112" y="3931920"/>
            <a:ext cx="1325880" cy="201168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26B70"/>
                </a:solidFill>
                <a:latin typeface="Arial"/>
              </a:rPr>
              <a:t>macro AUROC ↑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708392" y="413308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1" i="0">
                <a:solidFill>
                  <a:srgbClr val="18191A"/>
                </a:solidFill>
                <a:latin typeface="Arial"/>
              </a:rPr>
              <a:t>tl_sum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869680" y="418795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8869680" y="4187952"/>
            <a:ext cx="1956468" cy="274320"/>
          </a:xfrm>
          <a:prstGeom prst="roundRect">
            <a:avLst/>
          </a:prstGeom>
          <a:solidFill>
            <a:srgbClr val="1E9C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890504" y="414223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8191A"/>
                </a:solidFill>
                <a:latin typeface="Arial"/>
              </a:rPr>
              <a:t>0.7493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708392" y="463600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191A"/>
                </a:solidFill>
                <a:latin typeface="Arial"/>
              </a:rPr>
              <a:t>min_top5m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69680" y="469087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869680" y="4690872"/>
            <a:ext cx="1662799" cy="274320"/>
          </a:xfrm>
          <a:prstGeom prst="roundRect">
            <a:avLst/>
          </a:prstGeom>
          <a:solidFill>
            <a:srgbClr val="3E6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0890504" y="464515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0.7419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708392" y="5138928"/>
            <a:ext cx="1024128" cy="310896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18191A"/>
                </a:solidFill>
                <a:latin typeface="Arial"/>
              </a:rPr>
              <a:t>tl_mean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8869680" y="5193792"/>
            <a:ext cx="1984248" cy="274320"/>
          </a:xfrm>
          <a:prstGeom prst="roundRect">
            <a:avLst/>
          </a:prstGeom>
          <a:solidFill>
            <a:srgbClr val="E9ED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8869680" y="5193792"/>
            <a:ext cx="527809" cy="274320"/>
          </a:xfrm>
          <a:prstGeom prst="roundRect">
            <a:avLst/>
          </a:prstGeom>
          <a:solidFill>
            <a:srgbClr val="AEB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0890504" y="5148072"/>
            <a:ext cx="530352" cy="32918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8191A"/>
                </a:solidFill>
                <a:latin typeface="Arial"/>
              </a:rPr>
              <a:t>0.7133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845552" y="5504688"/>
            <a:ext cx="3419856" cy="155448"/>
          </a:xfrm>
          <a:prstGeom prst="roundRect">
            <a:avLst/>
          </a:prstGeom>
          <a:solidFill>
            <a:srgbClr val="DCEF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7854696" y="5477256"/>
            <a:ext cx="3401568" cy="210312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0" b="1" i="0">
                <a:solidFill>
                  <a:srgbClr val="137455"/>
                </a:solidFill>
                <a:latin typeface="Arial"/>
              </a:rPr>
              <a:t>tl_sum vs. min_top5m: paired bootstrap p &lt; 0.001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58368" y="5888736"/>
            <a:ext cx="10808208" cy="457200"/>
          </a:xfrm>
          <a:prstGeom prst="roundRect">
            <a:avLst/>
          </a:prstGeom>
          <a:solidFill>
            <a:srgbClr val="D4E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41248" y="5897880"/>
            <a:ext cx="10424160" cy="420624"/>
          </a:xfrm>
          <a:prstGeom prst="rect">
            <a:avLst/>
          </a:prstGeom>
          <a:noFill/>
        </p:spPr>
        <p:txBody>
          <a:bodyPr wrap="square" lIns="27432" rIns="27432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0" b="1" i="0">
                <a:solidFill>
                  <a:srgbClr val="137455"/>
                </a:solidFill>
                <a:latin typeface="Times New Roman"/>
              </a:rPr>
              <a:t>Takeaway: tl_sum is built from the top-5 escape signal identified by entropy decomposition—not an ad hoc formula.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